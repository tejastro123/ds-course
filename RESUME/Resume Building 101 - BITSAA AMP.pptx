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  <p:sldId id="276" r:id="rId26"/>
  </p:sldIdLst>
  <p:sldSz cy="5143500" cx="9144000"/>
  <p:notesSz cx="6858000" cy="9144000"/>
  <p:embeddedFontLst>
    <p:embeddedFont>
      <p:font typeface="Roboto Slab"/>
      <p:regular r:id="rId27"/>
      <p:bold r:id="rId28"/>
    </p:embeddedFont>
    <p:embeddedFont>
      <p:font typeface="Roboto"/>
      <p:regular r:id="rId29"/>
      <p:bold r:id="rId30"/>
      <p:italic r:id="rId31"/>
      <p:boldItalic r:id="rId32"/>
    </p:embeddedFont>
    <p:embeddedFont>
      <p:font typeface="Helvetica Neue"/>
      <p:regular r:id="rId33"/>
      <p:bold r:id="rId34"/>
      <p:italic r:id="rId35"/>
      <p:boldItalic r:id="rId36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60C5D40E-8CB1-4CBB-A516-25B302B9A850}">
  <a:tblStyle styleId="{60C5D40E-8CB1-4CBB-A516-25B302B9A850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V>
        </a:tcBdr>
      </a:tc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5.xml"/><Relationship Id="rId22" Type="http://schemas.openxmlformats.org/officeDocument/2006/relationships/slide" Target="slides/slide17.xml"/><Relationship Id="rId21" Type="http://schemas.openxmlformats.org/officeDocument/2006/relationships/slide" Target="slides/slide16.xml"/><Relationship Id="rId24" Type="http://schemas.openxmlformats.org/officeDocument/2006/relationships/slide" Target="slides/slide19.xml"/><Relationship Id="rId23" Type="http://schemas.openxmlformats.org/officeDocument/2006/relationships/slide" Target="slides/slide18.xml"/><Relationship Id="rId1" Type="http://schemas.openxmlformats.org/officeDocument/2006/relationships/theme" Target="theme/theme1.xml"/><Relationship Id="rId2" Type="http://schemas.openxmlformats.org/officeDocument/2006/relationships/presProps" Target="presProps.xml"/><Relationship Id="rId3" Type="http://schemas.openxmlformats.org/officeDocument/2006/relationships/tableStyles" Target="tableStyle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26" Type="http://schemas.openxmlformats.org/officeDocument/2006/relationships/slide" Target="slides/slide21.xml"/><Relationship Id="rId25" Type="http://schemas.openxmlformats.org/officeDocument/2006/relationships/slide" Target="slides/slide20.xml"/><Relationship Id="rId28" Type="http://schemas.openxmlformats.org/officeDocument/2006/relationships/font" Target="fonts/RobotoSlab-bold.fntdata"/><Relationship Id="rId27" Type="http://schemas.openxmlformats.org/officeDocument/2006/relationships/font" Target="fonts/RobotoSlab-regular.fntdata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29" Type="http://schemas.openxmlformats.org/officeDocument/2006/relationships/font" Target="fonts/Roboto-regular.fntdata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31" Type="http://schemas.openxmlformats.org/officeDocument/2006/relationships/font" Target="fonts/Roboto-italic.fntdata"/><Relationship Id="rId30" Type="http://schemas.openxmlformats.org/officeDocument/2006/relationships/font" Target="fonts/Roboto-bold.fntdata"/><Relationship Id="rId11" Type="http://schemas.openxmlformats.org/officeDocument/2006/relationships/slide" Target="slides/slide6.xml"/><Relationship Id="rId33" Type="http://schemas.openxmlformats.org/officeDocument/2006/relationships/font" Target="fonts/HelveticaNeue-regular.fntdata"/><Relationship Id="rId10" Type="http://schemas.openxmlformats.org/officeDocument/2006/relationships/slide" Target="slides/slide5.xml"/><Relationship Id="rId32" Type="http://schemas.openxmlformats.org/officeDocument/2006/relationships/font" Target="fonts/Roboto-boldItalic.fntdata"/><Relationship Id="rId13" Type="http://schemas.openxmlformats.org/officeDocument/2006/relationships/slide" Target="slides/slide8.xml"/><Relationship Id="rId35" Type="http://schemas.openxmlformats.org/officeDocument/2006/relationships/font" Target="fonts/HelveticaNeue-italic.fntdata"/><Relationship Id="rId12" Type="http://schemas.openxmlformats.org/officeDocument/2006/relationships/slide" Target="slides/slide7.xml"/><Relationship Id="rId34" Type="http://schemas.openxmlformats.org/officeDocument/2006/relationships/font" Target="fonts/HelveticaNeue-bold.fntdata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36" Type="http://schemas.openxmlformats.org/officeDocument/2006/relationships/font" Target="fonts/HelveticaNeue-boldItalic.fntdata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19" Type="http://schemas.openxmlformats.org/officeDocument/2006/relationships/slide" Target="slides/slide14.xml"/><Relationship Id="rId18" Type="http://schemas.openxmlformats.org/officeDocument/2006/relationships/slide" Target="slides/slide1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9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1" name="Google Shape;61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6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gb19bed2897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8" name="Google Shape;68;gb19bed2897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gcf8156805b_1_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6" name="Google Shape;76;gcf8156805b_1_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2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gb101baf3b4_0_41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4" name="Google Shape;84;gb101baf3b4_0_41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SzPts val="1100"/>
              <a:buChar char="-"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gb101baf3b4_0_46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1" name="Google Shape;91;gb101baf3b4_0_46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7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gb10b28ead7_1_1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9" name="Google Shape;99;gb10b28ead7_1_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4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gcc77d49b95_1_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6" name="Google Shape;106;gcc77d49b95_1_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SzPts val="1100"/>
              <a:buChar char="-"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Google Shape;112;gb101baf3b4_0_47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3" name="Google Shape;113;gb101baf3b4_0_47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>
              <a:solidFill>
                <a:schemeClr val="dk1"/>
              </a:solidFill>
            </a:endParaRP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7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Google Shape;128;gb10b28ead7_1_2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9" name="Google Shape;129;gb10b28ead7_1_2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4" name="Shape 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Google Shape;135;gb101baf3b4_0_48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6" name="Google Shape;136;gb101baf3b4_0_48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0" name="Shape 1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" name="Google Shape;151;gcf8156805b_1_2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2" name="Google Shape;152;gcf8156805b_1_2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SzPts val="1100"/>
              <a:buChar char="-"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7" name="Shape 1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" name="Google Shape;158;gb101baf3b4_0_55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9" name="Google Shape;159;gb101baf3b4_0_55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0" name="Shape 1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Google Shape;171;gb101baf3b4_0_11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2" name="Google Shape;172;gb101baf3b4_0_1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4" name="Shape 1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5" name="Google Shape;185;gcf8156805b_1_2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6" name="Google Shape;186;gcf8156805b_1_2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SzPts val="1100"/>
              <a:buChar char="-"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1" name="Shape 1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2" name="Google Shape;192;gb101baf3b4_0_10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3" name="Google Shape;193;gb101baf3b4_0_10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0" name="Shape 2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1" name="Google Shape;211;gb101baf3b4_2_1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2" name="Google Shape;212;gb101baf3b4_2_1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6" name="Shape 2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7" name="Google Shape;227;gb101baf3b4_0_18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8" name="Google Shape;228;gb101baf3b4_0_18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6" name="Shape 2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7" name="Google Shape;247;gb101baf3b4_0_43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48" name="Google Shape;248;gb101baf3b4_0_43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2" name="Shape 2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3" name="Google Shape;263;gb10b28ead7_1_4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64" name="Google Shape;264;gb10b28ead7_1_4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SzPts val="1100"/>
              <a:buChar char="-"/>
            </a:pPr>
            <a:r>
              <a:rPr lang="en"/>
              <a:t>Expect to be questioned on any points mentioned in the resume</a:t>
            </a:r>
            <a:endParaRPr/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SzPts val="1100"/>
              <a:buChar char="-"/>
            </a:pPr>
            <a:r>
              <a:rPr lang="en"/>
              <a:t>Better to write down some questions you anticipate and think of the answers. </a:t>
            </a:r>
            <a:endParaRPr/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SzPts val="1100"/>
              <a:buChar char="-"/>
            </a:pPr>
            <a:r>
              <a:rPr lang="en"/>
              <a:t>Get your resume reviewed with your friends and ask them to question you on the points mentioned in your resume</a:t>
            </a:r>
            <a:endParaRPr/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SzPts val="1100"/>
              <a:buChar char="-"/>
            </a:pPr>
            <a:r>
              <a:rPr lang="en"/>
              <a:t>Everyone </a:t>
            </a:r>
            <a:r>
              <a:rPr lang="en"/>
              <a:t>exaggerates but don’t outright lie. It is hard to fool interviewers.</a:t>
            </a:r>
            <a:r>
              <a:rPr lang="en"/>
              <a:t> </a:t>
            </a:r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8" name="Shape 2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9" name="Google Shape;269;gb101baf3b4_0_24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0" name="Google Shape;270;gb101baf3b4_0_24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7" name="Shape 2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8" name="Google Shape;288;gb101baf3b4_0_21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89" name="Google Shape;289;gb101baf3b4_0_21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/>
          <p:nvPr/>
        </p:nvSpPr>
        <p:spPr>
          <a:xfrm>
            <a:off x="1524800" y="672606"/>
            <a:ext cx="1081625" cy="1124950"/>
          </a:xfrm>
          <a:custGeom>
            <a:rect b="b" l="l" r="r" t="t"/>
            <a:pathLst>
              <a:path extrusionOk="0" h="44998" w="43265">
                <a:moveTo>
                  <a:pt x="0" y="44998"/>
                </a:moveTo>
                <a:lnTo>
                  <a:pt x="0" y="0"/>
                </a:lnTo>
                <a:lnTo>
                  <a:pt x="43265" y="0"/>
                </a:lnTo>
              </a:path>
            </a:pathLst>
          </a:custGeom>
          <a:noFill/>
          <a:ln cap="flat" cmpd="sng" w="28575">
            <a:solidFill>
              <a:schemeClr val="accent5"/>
            </a:solidFill>
            <a:prstDash val="solid"/>
            <a:miter lim="8000"/>
            <a:headEnd len="sm" w="sm" type="none"/>
            <a:tailEnd len="sm" w="sm" type="none"/>
          </a:ln>
        </p:spPr>
      </p:sp>
      <p:sp>
        <p:nvSpPr>
          <p:cNvPr id="11" name="Google Shape;11;p2"/>
          <p:cNvSpPr/>
          <p:nvPr/>
        </p:nvSpPr>
        <p:spPr>
          <a:xfrm rot="10800000">
            <a:off x="6537563" y="3342925"/>
            <a:ext cx="1081625" cy="1124950"/>
          </a:xfrm>
          <a:custGeom>
            <a:rect b="b" l="l" r="r" t="t"/>
            <a:pathLst>
              <a:path extrusionOk="0" h="44998" w="43265">
                <a:moveTo>
                  <a:pt x="0" y="44998"/>
                </a:moveTo>
                <a:lnTo>
                  <a:pt x="0" y="0"/>
                </a:lnTo>
                <a:lnTo>
                  <a:pt x="43265" y="0"/>
                </a:lnTo>
              </a:path>
            </a:pathLst>
          </a:custGeom>
          <a:noFill/>
          <a:ln cap="flat" cmpd="sng" w="28575">
            <a:solidFill>
              <a:schemeClr val="accent5"/>
            </a:solidFill>
            <a:prstDash val="solid"/>
            <a:miter lim="8000"/>
            <a:headEnd len="sm" w="sm" type="none"/>
            <a:tailEnd len="sm" w="sm" type="none"/>
          </a:ln>
        </p:spPr>
      </p:sp>
      <p:cxnSp>
        <p:nvCxnSpPr>
          <p:cNvPr id="12" name="Google Shape;12;p2"/>
          <p:cNvCxnSpPr/>
          <p:nvPr/>
        </p:nvCxnSpPr>
        <p:spPr>
          <a:xfrm>
            <a:off x="4359602" y="2817464"/>
            <a:ext cx="424800" cy="0"/>
          </a:xfrm>
          <a:prstGeom prst="straightConnector1">
            <a:avLst/>
          </a:prstGeom>
          <a:noFill/>
          <a:ln cap="flat" cmpd="sng" w="38100">
            <a:solidFill>
              <a:schemeClr val="accent4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3" name="Google Shape;13;p2"/>
          <p:cNvSpPr txBox="1"/>
          <p:nvPr>
            <p:ph type="ctrTitle"/>
          </p:nvPr>
        </p:nvSpPr>
        <p:spPr>
          <a:xfrm>
            <a:off x="1680302" y="1188925"/>
            <a:ext cx="5783400" cy="1457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9pPr>
          </a:lstStyle>
          <a:p/>
        </p:txBody>
      </p:sp>
      <p:sp>
        <p:nvSpPr>
          <p:cNvPr id="14" name="Google Shape;14;p2"/>
          <p:cNvSpPr txBox="1"/>
          <p:nvPr>
            <p:ph idx="1" type="subTitle"/>
          </p:nvPr>
        </p:nvSpPr>
        <p:spPr>
          <a:xfrm>
            <a:off x="1680302" y="3049450"/>
            <a:ext cx="5783400" cy="909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400"/>
              <a:buFont typeface="Roboto Slab"/>
              <a:buNone/>
              <a:defRPr sz="2400">
                <a:solidFill>
                  <a:schemeClr val="accent5"/>
                </a:solidFill>
                <a:latin typeface="Roboto Slab"/>
                <a:ea typeface="Roboto Slab"/>
                <a:cs typeface="Roboto Slab"/>
                <a:sym typeface="Roboto Slab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400"/>
              <a:buFont typeface="Roboto Slab"/>
              <a:buNone/>
              <a:defRPr sz="2400">
                <a:solidFill>
                  <a:schemeClr val="accent5"/>
                </a:solidFill>
                <a:latin typeface="Roboto Slab"/>
                <a:ea typeface="Roboto Slab"/>
                <a:cs typeface="Roboto Slab"/>
                <a:sym typeface="Roboto Slab"/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400"/>
              <a:buFont typeface="Roboto Slab"/>
              <a:buNone/>
              <a:defRPr sz="2400">
                <a:solidFill>
                  <a:schemeClr val="accent5"/>
                </a:solidFill>
                <a:latin typeface="Roboto Slab"/>
                <a:ea typeface="Roboto Slab"/>
                <a:cs typeface="Roboto Slab"/>
                <a:sym typeface="Roboto Slab"/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400"/>
              <a:buFont typeface="Roboto Slab"/>
              <a:buNone/>
              <a:defRPr sz="2400">
                <a:solidFill>
                  <a:schemeClr val="accent5"/>
                </a:solidFill>
                <a:latin typeface="Roboto Slab"/>
                <a:ea typeface="Roboto Slab"/>
                <a:cs typeface="Roboto Slab"/>
                <a:sym typeface="Roboto Slab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400"/>
              <a:buFont typeface="Roboto Slab"/>
              <a:buNone/>
              <a:defRPr sz="2400">
                <a:solidFill>
                  <a:schemeClr val="accent5"/>
                </a:solidFill>
                <a:latin typeface="Roboto Slab"/>
                <a:ea typeface="Roboto Slab"/>
                <a:cs typeface="Roboto Slab"/>
                <a:sym typeface="Roboto Slab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400"/>
              <a:buFont typeface="Roboto Slab"/>
              <a:buNone/>
              <a:defRPr sz="2400">
                <a:solidFill>
                  <a:schemeClr val="accent5"/>
                </a:solidFill>
                <a:latin typeface="Roboto Slab"/>
                <a:ea typeface="Roboto Slab"/>
                <a:cs typeface="Roboto Slab"/>
                <a:sym typeface="Roboto Slab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400"/>
              <a:buFont typeface="Roboto Slab"/>
              <a:buNone/>
              <a:defRPr sz="2400">
                <a:solidFill>
                  <a:schemeClr val="accent5"/>
                </a:solidFill>
                <a:latin typeface="Roboto Slab"/>
                <a:ea typeface="Roboto Slab"/>
                <a:cs typeface="Roboto Slab"/>
                <a:sym typeface="Roboto Slab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400"/>
              <a:buFont typeface="Roboto Slab"/>
              <a:buNone/>
              <a:defRPr sz="2400">
                <a:solidFill>
                  <a:schemeClr val="accent5"/>
                </a:solidFill>
                <a:latin typeface="Roboto Slab"/>
                <a:ea typeface="Roboto Slab"/>
                <a:cs typeface="Roboto Slab"/>
                <a:sym typeface="Roboto Slab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400"/>
              <a:buFont typeface="Roboto Slab"/>
              <a:buNone/>
              <a:defRPr sz="2400">
                <a:solidFill>
                  <a:schemeClr val="accent5"/>
                </a:solidFill>
                <a:latin typeface="Roboto Slab"/>
                <a:ea typeface="Roboto Slab"/>
                <a:cs typeface="Roboto Slab"/>
                <a:sym typeface="Roboto Slab"/>
              </a:defRPr>
            </a:lvl9pPr>
          </a:lstStyle>
          <a:p/>
        </p:txBody>
      </p:sp>
      <p:sp>
        <p:nvSpPr>
          <p:cNvPr id="15" name="Google Shape;15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7" name="Google Shape;17;p3"/>
          <p:cNvCxnSpPr/>
          <p:nvPr/>
        </p:nvCxnSpPr>
        <p:spPr>
          <a:xfrm>
            <a:off x="4359602" y="2817464"/>
            <a:ext cx="424800" cy="0"/>
          </a:xfrm>
          <a:prstGeom prst="straightConnector1">
            <a:avLst/>
          </a:prstGeom>
          <a:noFill/>
          <a:ln cap="flat" cmpd="sng" w="38100">
            <a:solidFill>
              <a:schemeClr val="accent4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8" name="Google Shape;18;p3"/>
          <p:cNvSpPr txBox="1"/>
          <p:nvPr>
            <p:ph type="title"/>
          </p:nvPr>
        </p:nvSpPr>
        <p:spPr>
          <a:xfrm>
            <a:off x="480750" y="1764950"/>
            <a:ext cx="8222100" cy="907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19" name="Google Shape;19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1" name="Google Shape;21;p4"/>
          <p:cNvCxnSpPr/>
          <p:nvPr/>
        </p:nvCxnSpPr>
        <p:spPr>
          <a:xfrm>
            <a:off x="492563" y="1260284"/>
            <a:ext cx="424800" cy="0"/>
          </a:xfrm>
          <a:prstGeom prst="straightConnector1">
            <a:avLst/>
          </a:prstGeom>
          <a:noFill/>
          <a:ln cap="flat" cmpd="sng" w="38100">
            <a:solidFill>
              <a:schemeClr val="accent4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2" name="Google Shape;22;p4"/>
          <p:cNvSpPr txBox="1"/>
          <p:nvPr>
            <p:ph type="title"/>
          </p:nvPr>
        </p:nvSpPr>
        <p:spPr>
          <a:xfrm>
            <a:off x="387900" y="458025"/>
            <a:ext cx="8368200" cy="6861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23" name="Google Shape;23;p4"/>
          <p:cNvSpPr txBox="1"/>
          <p:nvPr>
            <p:ph idx="1" type="body"/>
          </p:nvPr>
        </p:nvSpPr>
        <p:spPr>
          <a:xfrm>
            <a:off x="387900" y="1489824"/>
            <a:ext cx="8368200" cy="3078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 rtl="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rtl="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rtl="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rtl="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rtl="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rtl="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rtl="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rtl="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rtl="0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24" name="Google Shape;24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6" name="Google Shape;26;p5"/>
          <p:cNvCxnSpPr/>
          <p:nvPr/>
        </p:nvCxnSpPr>
        <p:spPr>
          <a:xfrm>
            <a:off x="492563" y="1260284"/>
            <a:ext cx="424800" cy="0"/>
          </a:xfrm>
          <a:prstGeom prst="straightConnector1">
            <a:avLst/>
          </a:prstGeom>
          <a:noFill/>
          <a:ln cap="flat" cmpd="sng" w="38100">
            <a:solidFill>
              <a:schemeClr val="accent4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7" name="Google Shape;27;p5"/>
          <p:cNvSpPr txBox="1"/>
          <p:nvPr>
            <p:ph type="title"/>
          </p:nvPr>
        </p:nvSpPr>
        <p:spPr>
          <a:xfrm>
            <a:off x="387900" y="458025"/>
            <a:ext cx="8368200" cy="6861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28" name="Google Shape;28;p5"/>
          <p:cNvSpPr txBox="1"/>
          <p:nvPr>
            <p:ph idx="1" type="body"/>
          </p:nvPr>
        </p:nvSpPr>
        <p:spPr>
          <a:xfrm>
            <a:off x="387900" y="1489825"/>
            <a:ext cx="3999900" cy="3078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 rtl="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rtl="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rtl="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rtl="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rtl="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rtl="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rtl="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rtl="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9" name="Google Shape;29;p5"/>
          <p:cNvSpPr txBox="1"/>
          <p:nvPr>
            <p:ph idx="2" type="body"/>
          </p:nvPr>
        </p:nvSpPr>
        <p:spPr>
          <a:xfrm>
            <a:off x="4756200" y="1489825"/>
            <a:ext cx="3999900" cy="3078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 rtl="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rtl="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rtl="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rtl="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rtl="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rtl="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rtl="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rtl="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0" name="Google Shape;30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31" name="Shape 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Google Shape;32;p6"/>
          <p:cNvSpPr txBox="1"/>
          <p:nvPr>
            <p:ph type="title"/>
          </p:nvPr>
        </p:nvSpPr>
        <p:spPr>
          <a:xfrm>
            <a:off x="387900" y="458025"/>
            <a:ext cx="8368200" cy="6861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33" name="Google Shape;33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34" name="Shape 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5" name="Google Shape;35;p7"/>
          <p:cNvCxnSpPr/>
          <p:nvPr/>
        </p:nvCxnSpPr>
        <p:spPr>
          <a:xfrm>
            <a:off x="489218" y="1412277"/>
            <a:ext cx="331500" cy="0"/>
          </a:xfrm>
          <a:prstGeom prst="straightConnector1">
            <a:avLst/>
          </a:prstGeom>
          <a:noFill/>
          <a:ln cap="flat" cmpd="sng" w="38100">
            <a:solidFill>
              <a:schemeClr val="accent4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36" name="Google Shape;36;p7"/>
          <p:cNvSpPr txBox="1"/>
          <p:nvPr>
            <p:ph type="title"/>
          </p:nvPr>
        </p:nvSpPr>
        <p:spPr>
          <a:xfrm>
            <a:off x="3879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7" name="Google Shape;37;p7"/>
          <p:cNvSpPr txBox="1"/>
          <p:nvPr>
            <p:ph idx="1" type="body"/>
          </p:nvPr>
        </p:nvSpPr>
        <p:spPr>
          <a:xfrm>
            <a:off x="387900" y="1594025"/>
            <a:ext cx="2808000" cy="268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 rtl="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 rtl="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rtl="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rtl="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rtl="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rtl="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rtl="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rtl="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rtl="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8" name="Google Shape;38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9" name="Shape 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Google Shape;40;p8"/>
          <p:cNvSpPr txBox="1"/>
          <p:nvPr>
            <p:ph type="title"/>
          </p:nvPr>
        </p:nvSpPr>
        <p:spPr>
          <a:xfrm>
            <a:off x="490250" y="526350"/>
            <a:ext cx="56187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41" name="Google Shape;41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42" name="Shape 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Google Shape;43;p9"/>
          <p:cNvSpPr/>
          <p:nvPr/>
        </p:nvSpPr>
        <p:spPr>
          <a:xfrm>
            <a:off x="4572000" y="-75"/>
            <a:ext cx="4572000" cy="51435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44" name="Google Shape;44;p9"/>
          <p:cNvCxnSpPr/>
          <p:nvPr/>
        </p:nvCxnSpPr>
        <p:spPr>
          <a:xfrm>
            <a:off x="5029675" y="4495503"/>
            <a:ext cx="540900" cy="0"/>
          </a:xfrm>
          <a:prstGeom prst="straightConnector1">
            <a:avLst/>
          </a:prstGeom>
          <a:noFill/>
          <a:ln cap="flat" cmpd="sng" w="38100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45" name="Google Shape;45;p9"/>
          <p:cNvSpPr txBox="1"/>
          <p:nvPr>
            <p:ph type="title"/>
          </p:nvPr>
        </p:nvSpPr>
        <p:spPr>
          <a:xfrm>
            <a:off x="265500" y="1209075"/>
            <a:ext cx="4045200" cy="1506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9pPr>
          </a:lstStyle>
          <a:p/>
        </p:txBody>
      </p:sp>
      <p:sp>
        <p:nvSpPr>
          <p:cNvPr id="46" name="Google Shape;46;p9"/>
          <p:cNvSpPr txBox="1"/>
          <p:nvPr>
            <p:ph idx="1" type="subTitle"/>
          </p:nvPr>
        </p:nvSpPr>
        <p:spPr>
          <a:xfrm>
            <a:off x="265500" y="2769001"/>
            <a:ext cx="4045200" cy="1345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100"/>
              <a:buNone/>
              <a:defRPr sz="2100">
                <a:solidFill>
                  <a:schemeClr val="accent5"/>
                </a:solidFill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100"/>
              <a:buNone/>
              <a:defRPr sz="2100">
                <a:solidFill>
                  <a:schemeClr val="accent5"/>
                </a:solidFill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100"/>
              <a:buNone/>
              <a:defRPr sz="2100">
                <a:solidFill>
                  <a:schemeClr val="accent5"/>
                </a:solidFill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100"/>
              <a:buNone/>
              <a:defRPr sz="2100">
                <a:solidFill>
                  <a:schemeClr val="accent5"/>
                </a:solidFill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100"/>
              <a:buNone/>
              <a:defRPr sz="2100">
                <a:solidFill>
                  <a:schemeClr val="accent5"/>
                </a:solidFill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100"/>
              <a:buNone/>
              <a:defRPr sz="2100">
                <a:solidFill>
                  <a:schemeClr val="accent5"/>
                </a:solidFill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100"/>
              <a:buNone/>
              <a:defRPr sz="2100">
                <a:solidFill>
                  <a:schemeClr val="accent5"/>
                </a:solidFill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100"/>
              <a:buNone/>
              <a:defRPr sz="2100">
                <a:solidFill>
                  <a:schemeClr val="accent5"/>
                </a:solidFill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100"/>
              <a:buNone/>
              <a:defRPr sz="2100">
                <a:solidFill>
                  <a:schemeClr val="accent5"/>
                </a:solidFill>
              </a:defRPr>
            </a:lvl9pPr>
          </a:lstStyle>
          <a:p/>
        </p:txBody>
      </p:sp>
      <p:sp>
        <p:nvSpPr>
          <p:cNvPr id="47" name="Google Shape;47;p9"/>
          <p:cNvSpPr txBox="1"/>
          <p:nvPr>
            <p:ph idx="2" type="body"/>
          </p:nvPr>
        </p:nvSpPr>
        <p:spPr>
          <a:xfrm>
            <a:off x="4939500" y="724200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342900" lvl="0" marL="457200" rtl="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rtl="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rtl="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rtl="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rtl="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rtl="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rtl="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rtl="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rtl="0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8" name="Google Shape;48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10"/>
          <p:cNvSpPr txBox="1"/>
          <p:nvPr>
            <p:ph idx="1" type="body"/>
          </p:nvPr>
        </p:nvSpPr>
        <p:spPr>
          <a:xfrm>
            <a:off x="319500" y="4233725"/>
            <a:ext cx="5998800" cy="598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228600" lvl="0" marL="4572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Roboto Slab"/>
              <a:buNone/>
              <a:defRPr>
                <a:latin typeface="Roboto Slab"/>
                <a:ea typeface="Roboto Slab"/>
                <a:cs typeface="Roboto Slab"/>
                <a:sym typeface="Roboto Slab"/>
              </a:defRPr>
            </a:lvl1pPr>
          </a:lstStyle>
          <a:p/>
        </p:txBody>
      </p:sp>
      <p:sp>
        <p:nvSpPr>
          <p:cNvPr id="51" name="Google Shape;51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52" name="Shape 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Google Shape;53;p11"/>
          <p:cNvSpPr/>
          <p:nvPr/>
        </p:nvSpPr>
        <p:spPr>
          <a:xfrm>
            <a:off x="150" y="5076825"/>
            <a:ext cx="9143700" cy="666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4" name="Google Shape;54;p11"/>
          <p:cNvSpPr txBox="1"/>
          <p:nvPr>
            <p:ph hasCustomPrompt="1" type="title"/>
          </p:nvPr>
        </p:nvSpPr>
        <p:spPr>
          <a:xfrm>
            <a:off x="387900" y="1152450"/>
            <a:ext cx="8368200" cy="15384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3000"/>
              <a:buNone/>
              <a:defRPr sz="13000">
                <a:solidFill>
                  <a:schemeClr val="accent5"/>
                </a:solidFill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3000"/>
              <a:buNone/>
              <a:defRPr sz="13000">
                <a:solidFill>
                  <a:schemeClr val="accent5"/>
                </a:solidFill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3000"/>
              <a:buNone/>
              <a:defRPr sz="13000">
                <a:solidFill>
                  <a:schemeClr val="accent5"/>
                </a:solidFill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3000"/>
              <a:buNone/>
              <a:defRPr sz="13000">
                <a:solidFill>
                  <a:schemeClr val="accent5"/>
                </a:solidFill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3000"/>
              <a:buNone/>
              <a:defRPr sz="13000">
                <a:solidFill>
                  <a:schemeClr val="accent5"/>
                </a:solidFill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3000"/>
              <a:buNone/>
              <a:defRPr sz="13000">
                <a:solidFill>
                  <a:schemeClr val="accent5"/>
                </a:solidFill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3000"/>
              <a:buNone/>
              <a:defRPr sz="13000">
                <a:solidFill>
                  <a:schemeClr val="accent5"/>
                </a:solidFill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3000"/>
              <a:buNone/>
              <a:defRPr sz="13000">
                <a:solidFill>
                  <a:schemeClr val="accent5"/>
                </a:solidFill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3000"/>
              <a:buNone/>
              <a:defRPr sz="13000">
                <a:solidFill>
                  <a:schemeClr val="accent5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55" name="Google Shape;55;p11"/>
          <p:cNvSpPr txBox="1"/>
          <p:nvPr>
            <p:ph idx="1" type="body"/>
          </p:nvPr>
        </p:nvSpPr>
        <p:spPr>
          <a:xfrm>
            <a:off x="387900" y="2919450"/>
            <a:ext cx="8368200" cy="1071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 rtl="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rtl="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rtl="0" algn="ctr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rtl="0" algn="ctr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rtl="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rtl="0" algn="ctr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rtl="0" algn="ctr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rtl="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rtl="0" algn="ctr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56" name="Google Shape;56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57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marina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87900" y="458025"/>
            <a:ext cx="8368200" cy="6861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 Slab"/>
              <a:buNone/>
              <a:defRPr sz="3000">
                <a:solidFill>
                  <a:schemeClr val="dk1"/>
                </a:solidFill>
                <a:latin typeface="Roboto Slab"/>
                <a:ea typeface="Roboto Slab"/>
                <a:cs typeface="Roboto Slab"/>
                <a:sym typeface="Roboto Slab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 Slab"/>
              <a:buNone/>
              <a:defRPr sz="3000">
                <a:solidFill>
                  <a:schemeClr val="dk1"/>
                </a:solidFill>
                <a:latin typeface="Roboto Slab"/>
                <a:ea typeface="Roboto Slab"/>
                <a:cs typeface="Roboto Slab"/>
                <a:sym typeface="Roboto Slab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 Slab"/>
              <a:buNone/>
              <a:defRPr sz="3000">
                <a:solidFill>
                  <a:schemeClr val="dk1"/>
                </a:solidFill>
                <a:latin typeface="Roboto Slab"/>
                <a:ea typeface="Roboto Slab"/>
                <a:cs typeface="Roboto Slab"/>
                <a:sym typeface="Roboto Slab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 Slab"/>
              <a:buNone/>
              <a:defRPr sz="3000">
                <a:solidFill>
                  <a:schemeClr val="dk1"/>
                </a:solidFill>
                <a:latin typeface="Roboto Slab"/>
                <a:ea typeface="Roboto Slab"/>
                <a:cs typeface="Roboto Slab"/>
                <a:sym typeface="Roboto Slab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 Slab"/>
              <a:buNone/>
              <a:defRPr sz="3000">
                <a:solidFill>
                  <a:schemeClr val="dk1"/>
                </a:solidFill>
                <a:latin typeface="Roboto Slab"/>
                <a:ea typeface="Roboto Slab"/>
                <a:cs typeface="Roboto Slab"/>
                <a:sym typeface="Roboto Slab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 Slab"/>
              <a:buNone/>
              <a:defRPr sz="3000">
                <a:solidFill>
                  <a:schemeClr val="dk1"/>
                </a:solidFill>
                <a:latin typeface="Roboto Slab"/>
                <a:ea typeface="Roboto Slab"/>
                <a:cs typeface="Roboto Slab"/>
                <a:sym typeface="Roboto Slab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 Slab"/>
              <a:buNone/>
              <a:defRPr sz="3000">
                <a:solidFill>
                  <a:schemeClr val="dk1"/>
                </a:solidFill>
                <a:latin typeface="Roboto Slab"/>
                <a:ea typeface="Roboto Slab"/>
                <a:cs typeface="Roboto Slab"/>
                <a:sym typeface="Roboto Slab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 Slab"/>
              <a:buNone/>
              <a:defRPr sz="3000">
                <a:solidFill>
                  <a:schemeClr val="dk1"/>
                </a:solidFill>
                <a:latin typeface="Roboto Slab"/>
                <a:ea typeface="Roboto Slab"/>
                <a:cs typeface="Roboto Slab"/>
                <a:sym typeface="Roboto Slab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 Slab"/>
              <a:buNone/>
              <a:defRPr sz="3000">
                <a:solidFill>
                  <a:schemeClr val="dk1"/>
                </a:solidFill>
                <a:latin typeface="Roboto Slab"/>
                <a:ea typeface="Roboto Slab"/>
                <a:cs typeface="Roboto Slab"/>
                <a:sym typeface="Roboto Slab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87900" y="1489824"/>
            <a:ext cx="8368200" cy="307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"/>
              <a:buChar char="●"/>
              <a:defRPr sz="18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-317500" lvl="1" marL="9144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Char char="○"/>
              <a:defRPr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indent="-317500" lvl="2" marL="13716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Char char="■"/>
              <a:defRPr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indent="-317500" lvl="3" marL="18288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Char char="●"/>
              <a:defRPr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indent="-317500" lvl="4" marL="22860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Char char="○"/>
              <a:defRPr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indent="-317500" lvl="5" marL="27432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Char char="■"/>
              <a:defRPr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indent="-317500" lvl="6" marL="32004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Char char="●"/>
              <a:defRPr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indent="-317500" lvl="7" marL="36576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Char char="○"/>
              <a:defRPr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indent="-317500" lvl="8" marL="4114800" rtl="0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chemeClr val="dk1"/>
              </a:buClr>
              <a:buSzPts val="1400"/>
              <a:buFont typeface="Roboto"/>
              <a:buChar char="■"/>
              <a:defRPr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r">
              <a:buNone/>
              <a:defRPr sz="1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lvl="1" rtl="0" algn="r">
              <a:buNone/>
              <a:defRPr sz="1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lvl="2" rtl="0" algn="r">
              <a:buNone/>
              <a:defRPr sz="1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lvl="3" rtl="0" algn="r">
              <a:buNone/>
              <a:defRPr sz="1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lvl="4" rtl="0" algn="r">
              <a:buNone/>
              <a:defRPr sz="1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lvl="5" rtl="0" algn="r">
              <a:buNone/>
              <a:defRPr sz="1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lvl="6" rtl="0" algn="r">
              <a:buNone/>
              <a:defRPr sz="1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lvl="7" rtl="0" algn="r">
              <a:buNone/>
              <a:defRPr sz="1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lvl="8" rtl="0" algn="r">
              <a:buNone/>
              <a:defRPr sz="1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8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2.xml"/><Relationship Id="rId3" Type="http://schemas.openxmlformats.org/officeDocument/2006/relationships/hyperlink" Target="https://www.bitsaa.org/" TargetMode="External"/><Relationship Id="rId4" Type="http://schemas.openxmlformats.org/officeDocument/2006/relationships/image" Target="../media/image8.png"/><Relationship Id="rId5" Type="http://schemas.openxmlformats.org/officeDocument/2006/relationships/hyperlink" Target="https://www.linkedin.com/in/harsh-bhargava-b248585/" TargetMode="External"/><Relationship Id="rId6" Type="http://schemas.openxmlformats.org/officeDocument/2006/relationships/hyperlink" Target="https://www.linkedin.com/in/prameela-konduru/" TargetMode="External"/><Relationship Id="rId7" Type="http://schemas.openxmlformats.org/officeDocument/2006/relationships/hyperlink" Target="https://www.linkedin.com/in/neetipokharna/?originalSubdomain=in" TargetMode="External"/></Relationships>
</file>

<file path=ppt/slides/_rels/slide3.xml.rels><?xml version="1.0" encoding="UTF-8" standalone="yes"?><Relationships xmlns="http://schemas.openxmlformats.org/package/2006/relationships"><Relationship Id="rId11" Type="http://schemas.openxmlformats.org/officeDocument/2006/relationships/hyperlink" Target="https://www.linkedin.com/in/rsbalajee99/?originalSubdomain=in" TargetMode="External"/><Relationship Id="rId10" Type="http://schemas.openxmlformats.org/officeDocument/2006/relationships/hyperlink" Target="https://www.linkedin.com/in/saee-abhyankar/?originalSubdomain=in" TargetMode="External"/><Relationship Id="rId13" Type="http://schemas.openxmlformats.org/officeDocument/2006/relationships/hyperlink" Target="https://www.linkedin.com/in/mananahujaofficial/?originalSubdomain=in" TargetMode="External"/><Relationship Id="rId12" Type="http://schemas.openxmlformats.org/officeDocument/2006/relationships/hyperlink" Target="https://www.linkedin.com/in/jay-pokarna-24b155118" TargetMode="External"/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8.png"/><Relationship Id="rId4" Type="http://schemas.openxmlformats.org/officeDocument/2006/relationships/hyperlink" Target="https://www.linkedin.com/in/charul-bansal/" TargetMode="External"/><Relationship Id="rId9" Type="http://schemas.openxmlformats.org/officeDocument/2006/relationships/hyperlink" Target="https://www.linkedin.com/in/vidyayani-durga-25b628105/" TargetMode="External"/><Relationship Id="rId5" Type="http://schemas.openxmlformats.org/officeDocument/2006/relationships/hyperlink" Target="https://www.linkedin.com/in/palakoswal" TargetMode="External"/><Relationship Id="rId6" Type="http://schemas.openxmlformats.org/officeDocument/2006/relationships/hyperlink" Target="https://www.linkedin.com/in/subham-thakur-3096b9111/" TargetMode="External"/><Relationship Id="rId7" Type="http://schemas.openxmlformats.org/officeDocument/2006/relationships/hyperlink" Target="https://www.linkedin.com/in/utsavawasthi/" TargetMode="External"/><Relationship Id="rId8" Type="http://schemas.openxmlformats.org/officeDocument/2006/relationships/hyperlink" Target="https://www.linkedin.com/in/vaishali-soni-786bb952/" TargetMode="Externa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8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5.xml"/><Relationship Id="rId3" Type="http://schemas.openxmlformats.org/officeDocument/2006/relationships/slide" Target="/ppt/slides/slide8.xml"/><Relationship Id="rId4" Type="http://schemas.openxmlformats.org/officeDocument/2006/relationships/slide" Target="/ppt/slides/slide8.xml"/><Relationship Id="rId5" Type="http://schemas.openxmlformats.org/officeDocument/2006/relationships/slide" Target="/ppt/slides/slide10.xml"/><Relationship Id="rId6" Type="http://schemas.openxmlformats.org/officeDocument/2006/relationships/slide" Target="/ppt/slides/slide12.xml"/><Relationship Id="rId7" Type="http://schemas.openxmlformats.org/officeDocument/2006/relationships/slide" Target="/ppt/slides/slide15.xml"/><Relationship Id="rId8" Type="http://schemas.openxmlformats.org/officeDocument/2006/relationships/image" Target="../media/image8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8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8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2.png"/><Relationship Id="rId4" Type="http://schemas.openxmlformats.org/officeDocument/2006/relationships/image" Target="../media/image4.png"/><Relationship Id="rId5" Type="http://schemas.openxmlformats.org/officeDocument/2006/relationships/image" Target="../media/image8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8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8.png"/><Relationship Id="rId4" Type="http://schemas.openxmlformats.org/officeDocument/2006/relationships/image" Target="../media/image3.png"/><Relationship Id="rId5" Type="http://schemas.openxmlformats.org/officeDocument/2006/relationships/image" Target="../media/image5.png"/><Relationship Id="rId6" Type="http://schemas.openxmlformats.org/officeDocument/2006/relationships/image" Target="../media/image10.png"/><Relationship Id="rId7" Type="http://schemas.openxmlformats.org/officeDocument/2006/relationships/image" Target="../media/image1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8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8.png"/><Relationship Id="rId4" Type="http://schemas.openxmlformats.org/officeDocument/2006/relationships/image" Target="../media/image9.png"/><Relationship Id="rId5" Type="http://schemas.openxmlformats.org/officeDocument/2006/relationships/image" Target="../media/image7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12.png"/><Relationship Id="rId4" Type="http://schemas.openxmlformats.org/officeDocument/2006/relationships/image" Target="../media/image8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8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16.png"/><Relationship Id="rId4" Type="http://schemas.openxmlformats.org/officeDocument/2006/relationships/image" Target="../media/image8.png"/><Relationship Id="rId5" Type="http://schemas.openxmlformats.org/officeDocument/2006/relationships/image" Target="../media/image18.pn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19.png"/><Relationship Id="rId4" Type="http://schemas.openxmlformats.org/officeDocument/2006/relationships/image" Target="../media/image8.png"/><Relationship Id="rId5" Type="http://schemas.openxmlformats.org/officeDocument/2006/relationships/image" Target="../media/image17.png"/><Relationship Id="rId6" Type="http://schemas.openxmlformats.org/officeDocument/2006/relationships/image" Target="../media/image11.png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8.png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8.png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8.png"/></Relationships>
</file>

<file path=ppt/slides/_rels/slide20.xml.rels><?xml version="1.0" encoding="UTF-8" standalone="yes"?><Relationships xmlns="http://schemas.openxmlformats.org/package/2006/relationships"><Relationship Id="rId11" Type="http://schemas.openxmlformats.org/officeDocument/2006/relationships/hyperlink" Target="mailto:Amp-team@bitsaa.org" TargetMode="External"/><Relationship Id="rId10" Type="http://schemas.openxmlformats.org/officeDocument/2006/relationships/hyperlink" Target="https://drive.google.com/file/d/1BVRQZy8lB6G9NO15e184QWdcZpBEU2gE/view?usp=sharing" TargetMode="External"/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20.xml"/><Relationship Id="rId3" Type="http://schemas.openxmlformats.org/officeDocument/2006/relationships/image" Target="../media/image8.png"/><Relationship Id="rId4" Type="http://schemas.openxmlformats.org/officeDocument/2006/relationships/hyperlink" Target="https://drive.google.com/file/d/1M4696EjmzER-KhKmktGVTfB93qYK7vt1/view?usp=sharing" TargetMode="External"/><Relationship Id="rId9" Type="http://schemas.openxmlformats.org/officeDocument/2006/relationships/hyperlink" Target="https://drive.google.com/file/d/1shhpcSvCPr17LRw3sSPuhb-uwvFSuDkp/view?usp=sharing" TargetMode="External"/><Relationship Id="rId5" Type="http://schemas.openxmlformats.org/officeDocument/2006/relationships/hyperlink" Target="https://drive.google.com/file/d/1qTV05OHMnziFXgkUE3j-eYWYAoM-SBQJ/view?usp=sharing" TargetMode="External"/><Relationship Id="rId6" Type="http://schemas.openxmlformats.org/officeDocument/2006/relationships/hyperlink" Target="https://drive.google.com/file/d/1r7XCfwRsFKjYX0i6odvp5xnJKGihAPaD/view?usp=sharing" TargetMode="External"/><Relationship Id="rId7" Type="http://schemas.openxmlformats.org/officeDocument/2006/relationships/hyperlink" Target="https://drive.google.com/file/d/1VzWmJ2rXyBIPz_303DGofcs1lFZy_xCz/view?usp=sharing" TargetMode="External"/><Relationship Id="rId8" Type="http://schemas.openxmlformats.org/officeDocument/2006/relationships/hyperlink" Target="https://drive.google.com/file/d/1-lSnlkz3Oc12AuQB01hRIvC_UNBnwW8L/view?usp=sharing" TargetMode="External"/></Relationships>
</file>

<file path=ppt/slides/_rels/slide21.xml.rels><?xml version="1.0" encoding="UTF-8" standalone="yes"?><Relationships xmlns="http://schemas.openxmlformats.org/package/2006/relationships"><Relationship Id="rId11" Type="http://schemas.openxmlformats.org/officeDocument/2006/relationships/hyperlink" Target="https://www.bitsaa.org/login" TargetMode="External"/><Relationship Id="rId10" Type="http://schemas.openxmlformats.org/officeDocument/2006/relationships/image" Target="../media/image21.png"/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Relationship Id="rId3" Type="http://schemas.openxmlformats.org/officeDocument/2006/relationships/image" Target="../media/image8.png"/><Relationship Id="rId4" Type="http://schemas.openxmlformats.org/officeDocument/2006/relationships/hyperlink" Target="mailto:Amp-team@bitsaa.org" TargetMode="External"/><Relationship Id="rId9" Type="http://schemas.openxmlformats.org/officeDocument/2006/relationships/image" Target="../media/image13.png"/><Relationship Id="rId5" Type="http://schemas.openxmlformats.org/officeDocument/2006/relationships/hyperlink" Target="mailto:Amp-team@bitsaa.org" TargetMode="External"/><Relationship Id="rId6" Type="http://schemas.openxmlformats.org/officeDocument/2006/relationships/image" Target="../media/image15.png"/><Relationship Id="rId7" Type="http://schemas.openxmlformats.org/officeDocument/2006/relationships/image" Target="../media/image14.png"/><Relationship Id="rId8" Type="http://schemas.openxmlformats.org/officeDocument/2006/relationships/image" Target="../media/image20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2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p13"/>
          <p:cNvSpPr txBox="1"/>
          <p:nvPr>
            <p:ph type="ctrTitle"/>
          </p:nvPr>
        </p:nvSpPr>
        <p:spPr>
          <a:xfrm>
            <a:off x="1680302" y="1188925"/>
            <a:ext cx="5783400" cy="14574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Resume Building 101</a:t>
            </a:r>
            <a:endParaRPr/>
          </a:p>
        </p:txBody>
      </p:sp>
      <p:sp>
        <p:nvSpPr>
          <p:cNvPr id="64" name="Google Shape;64;p13"/>
          <p:cNvSpPr txBox="1"/>
          <p:nvPr>
            <p:ph idx="1" type="subTitle"/>
          </p:nvPr>
        </p:nvSpPr>
        <p:spPr>
          <a:xfrm>
            <a:off x="1680302" y="3049450"/>
            <a:ext cx="5783400" cy="9090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/>
              <a:t>Alumni Mentorship Programme</a:t>
            </a:r>
            <a:endParaRPr sz="1800"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/>
              <a:t>July </a:t>
            </a:r>
            <a:r>
              <a:rPr lang="en" sz="1000"/>
              <a:t>2022</a:t>
            </a:r>
            <a:endParaRPr sz="1000"/>
          </a:p>
        </p:txBody>
      </p:sp>
      <p:pic>
        <p:nvPicPr>
          <p:cNvPr id="65" name="Google Shape;65;p1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966231" y="1069375"/>
            <a:ext cx="1211538" cy="3481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="0">
  <p:cSld>
    <p:bg>
      <p:bgPr>
        <a:solidFill>
          <a:srgbClr val="FFFFFF"/>
        </a:solidFill>
      </p:bgPr>
    </p:bg>
    <p:spTree>
      <p:nvGrpSpPr>
        <p:cNvPr id="69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Google Shape;70;p14"/>
          <p:cNvSpPr txBox="1"/>
          <p:nvPr/>
        </p:nvSpPr>
        <p:spPr>
          <a:xfrm>
            <a:off x="0" y="0"/>
            <a:ext cx="9144000" cy="3048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7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What is BITS Alumni Association?</a:t>
            </a:r>
            <a:endParaRPr>
              <a:solidFill>
                <a:schemeClr val="dk1"/>
              </a:solidFill>
            </a:endParaRPr>
          </a:p>
        </p:txBody>
      </p:sp>
      <p:sp>
        <p:nvSpPr>
          <p:cNvPr id="71" name="Google Shape;71;p14"/>
          <p:cNvSpPr txBox="1"/>
          <p:nvPr/>
        </p:nvSpPr>
        <p:spPr>
          <a:xfrm>
            <a:off x="455125" y="359550"/>
            <a:ext cx="8253900" cy="4694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solidFill>
                  <a:srgbClr val="FF9900"/>
                </a:solidFill>
                <a:latin typeface="Roboto"/>
                <a:ea typeface="Roboto"/>
                <a:cs typeface="Roboto"/>
                <a:sym typeface="Roboto"/>
              </a:rPr>
              <a:t>The Journey continues ….</a:t>
            </a:r>
            <a:endParaRPr sz="1100">
              <a:solidFill>
                <a:srgbClr val="FF9900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302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Font typeface="Roboto"/>
              <a:buChar char="●"/>
            </a:pPr>
            <a:r>
              <a:rPr lang="en" sz="1600">
                <a:latin typeface="Roboto"/>
                <a:ea typeface="Roboto"/>
                <a:cs typeface="Roboto"/>
                <a:sym typeface="Roboto"/>
              </a:rPr>
              <a:t>One of the largest and strongest alumni bodies in the world with 150k+ alumni </a:t>
            </a:r>
            <a:endParaRPr sz="1600">
              <a:latin typeface="Roboto"/>
              <a:ea typeface="Roboto"/>
              <a:cs typeface="Roboto"/>
              <a:sym typeface="Roboto"/>
            </a:endParaRPr>
          </a:p>
          <a:p>
            <a:pPr indent="-3302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Font typeface="Roboto"/>
              <a:buChar char="●"/>
            </a:pPr>
            <a:r>
              <a:rPr lang="en" sz="1600">
                <a:latin typeface="Roboto"/>
                <a:ea typeface="Roboto"/>
                <a:cs typeface="Roboto"/>
                <a:sym typeface="Roboto"/>
              </a:rPr>
              <a:t>100+ chapters around the globe</a:t>
            </a:r>
            <a:endParaRPr sz="1100">
              <a:solidFill>
                <a:srgbClr val="FF9900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302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Font typeface="Roboto"/>
              <a:buChar char="●"/>
            </a:pPr>
            <a:r>
              <a:rPr lang="en" sz="1600">
                <a:latin typeface="Roboto"/>
                <a:ea typeface="Roboto"/>
                <a:cs typeface="Roboto"/>
                <a:sym typeface="Roboto"/>
              </a:rPr>
              <a:t>Maximize the potential of BITSians &amp; BITS-Pilani</a:t>
            </a:r>
            <a:endParaRPr sz="1600">
              <a:latin typeface="Roboto"/>
              <a:ea typeface="Roboto"/>
              <a:cs typeface="Roboto"/>
              <a:sym typeface="Roboto"/>
            </a:endParaRPr>
          </a:p>
          <a:p>
            <a:pPr indent="-3302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Font typeface="Roboto"/>
              <a:buChar char="●"/>
            </a:pPr>
            <a:r>
              <a:rPr lang="en" sz="1600">
                <a:latin typeface="Roboto"/>
                <a:ea typeface="Roboto"/>
                <a:cs typeface="Roboto"/>
                <a:sym typeface="Roboto"/>
              </a:rPr>
              <a:t>What do we do? </a:t>
            </a:r>
            <a:endParaRPr sz="1600">
              <a:latin typeface="Roboto"/>
              <a:ea typeface="Roboto"/>
              <a:cs typeface="Roboto"/>
              <a:sym typeface="Roboto"/>
            </a:endParaRPr>
          </a:p>
          <a:p>
            <a:pPr indent="-3302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Font typeface="Roboto"/>
              <a:buChar char="○"/>
            </a:pPr>
            <a:r>
              <a:rPr lang="en" sz="1600">
                <a:latin typeface="Roboto"/>
                <a:ea typeface="Roboto"/>
                <a:cs typeface="Roboto"/>
                <a:sym typeface="Roboto"/>
              </a:rPr>
              <a:t>Job Support Initiative</a:t>
            </a:r>
            <a:endParaRPr sz="1600">
              <a:latin typeface="Roboto"/>
              <a:ea typeface="Roboto"/>
              <a:cs typeface="Roboto"/>
              <a:sym typeface="Roboto"/>
            </a:endParaRPr>
          </a:p>
          <a:p>
            <a:pPr indent="-3302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Font typeface="Roboto"/>
              <a:buChar char="○"/>
            </a:pPr>
            <a:r>
              <a:rPr lang="en" sz="1600">
                <a:latin typeface="Roboto"/>
                <a:ea typeface="Roboto"/>
                <a:cs typeface="Roboto"/>
                <a:sym typeface="Roboto"/>
              </a:rPr>
              <a:t>Sahaaya</a:t>
            </a:r>
            <a:endParaRPr sz="1600">
              <a:latin typeface="Roboto"/>
              <a:ea typeface="Roboto"/>
              <a:cs typeface="Roboto"/>
              <a:sym typeface="Roboto"/>
            </a:endParaRPr>
          </a:p>
          <a:p>
            <a:pPr indent="-3302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Font typeface="Roboto"/>
              <a:buChar char="○"/>
            </a:pPr>
            <a:r>
              <a:rPr lang="en" sz="1600">
                <a:latin typeface="Roboto"/>
                <a:ea typeface="Roboto"/>
                <a:cs typeface="Roboto"/>
                <a:sym typeface="Roboto"/>
              </a:rPr>
              <a:t>Propel</a:t>
            </a:r>
            <a:endParaRPr sz="1600">
              <a:latin typeface="Roboto"/>
              <a:ea typeface="Roboto"/>
              <a:cs typeface="Roboto"/>
              <a:sym typeface="Roboto"/>
            </a:endParaRPr>
          </a:p>
          <a:p>
            <a:pPr indent="-3302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Font typeface="Roboto"/>
              <a:buChar char="○"/>
            </a:pPr>
            <a:r>
              <a:rPr lang="en" sz="1600">
                <a:latin typeface="Roboto"/>
                <a:ea typeface="Roboto"/>
                <a:cs typeface="Roboto"/>
                <a:sym typeface="Roboto"/>
              </a:rPr>
              <a:t>BITS2MSPhD, BITS2BSchool</a:t>
            </a:r>
            <a:endParaRPr sz="1600">
              <a:latin typeface="Roboto"/>
              <a:ea typeface="Roboto"/>
              <a:cs typeface="Roboto"/>
              <a:sym typeface="Roboto"/>
            </a:endParaRPr>
          </a:p>
          <a:p>
            <a:pPr indent="-3302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Font typeface="Roboto"/>
              <a:buChar char="○"/>
            </a:pPr>
            <a:r>
              <a:rPr lang="en" sz="1600">
                <a:latin typeface="Roboto"/>
                <a:ea typeface="Roboto"/>
                <a:cs typeface="Roboto"/>
                <a:sym typeface="Roboto"/>
              </a:rPr>
              <a:t>BITS-Spark</a:t>
            </a:r>
            <a:endParaRPr sz="1600">
              <a:latin typeface="Roboto"/>
              <a:ea typeface="Roboto"/>
              <a:cs typeface="Roboto"/>
              <a:sym typeface="Roboto"/>
            </a:endParaRPr>
          </a:p>
          <a:p>
            <a:pPr indent="-3302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Font typeface="Roboto"/>
              <a:buChar char="○"/>
            </a:pPr>
            <a:r>
              <a:rPr lang="en" sz="1600">
                <a:latin typeface="Roboto"/>
                <a:ea typeface="Roboto"/>
                <a:cs typeface="Roboto"/>
                <a:sym typeface="Roboto"/>
              </a:rPr>
              <a:t>BITSians Day</a:t>
            </a:r>
            <a:endParaRPr sz="1600">
              <a:latin typeface="Roboto"/>
              <a:ea typeface="Roboto"/>
              <a:cs typeface="Roboto"/>
              <a:sym typeface="Roboto"/>
            </a:endParaRPr>
          </a:p>
          <a:p>
            <a:pPr indent="-3302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Font typeface="Roboto"/>
              <a:buChar char="○"/>
            </a:pPr>
            <a:r>
              <a:rPr lang="en" sz="1600">
                <a:latin typeface="Roboto"/>
                <a:ea typeface="Roboto"/>
                <a:cs typeface="Roboto"/>
                <a:sym typeface="Roboto"/>
              </a:rPr>
              <a:t>Emergency Support</a:t>
            </a:r>
            <a:endParaRPr sz="1600">
              <a:latin typeface="Roboto"/>
              <a:ea typeface="Roboto"/>
              <a:cs typeface="Roboto"/>
              <a:sym typeface="Roboto"/>
            </a:endParaRPr>
          </a:p>
          <a:p>
            <a:pPr indent="-3302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Font typeface="Roboto"/>
              <a:buChar char="○"/>
            </a:pPr>
            <a:r>
              <a:rPr lang="en" sz="1600">
                <a:latin typeface="Roboto"/>
                <a:ea typeface="Roboto"/>
                <a:cs typeface="Roboto"/>
                <a:sym typeface="Roboto"/>
              </a:rPr>
              <a:t>Scholarships &amp; Awards</a:t>
            </a:r>
            <a:endParaRPr sz="1600">
              <a:latin typeface="Roboto"/>
              <a:ea typeface="Roboto"/>
              <a:cs typeface="Roboto"/>
              <a:sym typeface="Roboto"/>
            </a:endParaRPr>
          </a:p>
          <a:p>
            <a:pPr indent="-3302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Font typeface="Roboto"/>
              <a:buChar char="○"/>
            </a:pPr>
            <a:r>
              <a:rPr lang="en" sz="1600">
                <a:latin typeface="Roboto"/>
                <a:ea typeface="Roboto"/>
                <a:cs typeface="Roboto"/>
                <a:sym typeface="Roboto"/>
              </a:rPr>
              <a:t>AMP</a:t>
            </a:r>
            <a:endParaRPr sz="1600">
              <a:latin typeface="Roboto"/>
              <a:ea typeface="Roboto"/>
              <a:cs typeface="Roboto"/>
              <a:sym typeface="Roboto"/>
            </a:endParaRPr>
          </a:p>
          <a:p>
            <a:pPr indent="-3302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Font typeface="Roboto"/>
              <a:buChar char="○"/>
            </a:pPr>
            <a:r>
              <a:rPr lang="en" sz="1600">
                <a:latin typeface="Roboto"/>
                <a:ea typeface="Roboto"/>
                <a:cs typeface="Roboto"/>
                <a:sym typeface="Roboto"/>
              </a:rPr>
              <a:t>Podcasts and much more</a:t>
            </a:r>
            <a:endParaRPr sz="1600">
              <a:latin typeface="Roboto"/>
              <a:ea typeface="Roboto"/>
              <a:cs typeface="Roboto"/>
              <a:sym typeface="Roboto"/>
            </a:endParaRPr>
          </a:p>
          <a:p>
            <a:pPr indent="-3302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Font typeface="Roboto"/>
              <a:buChar char="●"/>
            </a:pPr>
            <a:r>
              <a:rPr lang="en" sz="1600">
                <a:latin typeface="Roboto"/>
                <a:ea typeface="Roboto"/>
                <a:cs typeface="Roboto"/>
                <a:sym typeface="Roboto"/>
              </a:rPr>
              <a:t>Sign up at </a:t>
            </a:r>
            <a:r>
              <a:rPr lang="en" sz="1600" u="sng">
                <a:solidFill>
                  <a:schemeClr val="hlink"/>
                </a:solidFill>
                <a:latin typeface="Roboto"/>
                <a:ea typeface="Roboto"/>
                <a:cs typeface="Roboto"/>
                <a:sym typeface="Roboto"/>
                <a:hlinkClick r:id="rId3"/>
              </a:rPr>
              <a:t>https://www.bitsaa.org/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id="72" name="Google Shape;72;p14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8088799" y="0"/>
            <a:ext cx="1060695" cy="304800"/>
          </a:xfrm>
          <a:prstGeom prst="rect">
            <a:avLst/>
          </a:prstGeom>
          <a:noFill/>
          <a:ln>
            <a:noFill/>
          </a:ln>
        </p:spPr>
      </p:pic>
      <p:sp>
        <p:nvSpPr>
          <p:cNvPr id="73" name="Google Shape;73;p14"/>
          <p:cNvSpPr/>
          <p:nvPr/>
        </p:nvSpPr>
        <p:spPr>
          <a:xfrm>
            <a:off x="4863850" y="2257150"/>
            <a:ext cx="4014900" cy="1318500"/>
          </a:xfrm>
          <a:prstGeom prst="verticalScroll">
            <a:avLst>
              <a:gd fmla="val 12500" name="adj"/>
            </a:avLst>
          </a:prstGeom>
          <a:solidFill>
            <a:srgbClr val="C9DAF8"/>
          </a:solidFill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Chairperson : Harsh Bhargava - </a:t>
            </a:r>
            <a:r>
              <a:rPr lang="en" u="sng">
                <a:solidFill>
                  <a:schemeClr val="accent5"/>
                </a:solidFill>
                <a:hlinkClick r:id="rId5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LinkedIn</a:t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CEO : Sai Prameela Konduru - </a:t>
            </a:r>
            <a:r>
              <a:rPr lang="en" u="sng">
                <a:solidFill>
                  <a:schemeClr val="hlink"/>
                </a:solidFill>
                <a:hlinkClick r:id="rId6"/>
              </a:rPr>
              <a:t>LinkedIn</a:t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COO : Neeti Pokharna - </a:t>
            </a:r>
            <a:r>
              <a:rPr lang="en" u="sng">
                <a:solidFill>
                  <a:schemeClr val="hlink"/>
                </a:solidFill>
                <a:hlinkClick r:id="rId7"/>
              </a:rPr>
              <a:t>LinkedIn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77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p15"/>
          <p:cNvSpPr txBox="1"/>
          <p:nvPr/>
        </p:nvSpPr>
        <p:spPr>
          <a:xfrm>
            <a:off x="0" y="0"/>
            <a:ext cx="9144000" cy="3048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7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What is BITSAA Alumni Mentorship Program?</a:t>
            </a:r>
            <a:endParaRPr>
              <a:solidFill>
                <a:schemeClr val="dk1"/>
              </a:solidFill>
            </a:endParaRPr>
          </a:p>
        </p:txBody>
      </p:sp>
      <p:pic>
        <p:nvPicPr>
          <p:cNvPr id="79" name="Google Shape;79;p1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088799" y="0"/>
            <a:ext cx="1060695" cy="304800"/>
          </a:xfrm>
          <a:prstGeom prst="rect">
            <a:avLst/>
          </a:prstGeom>
          <a:noFill/>
          <a:ln>
            <a:noFill/>
          </a:ln>
        </p:spPr>
      </p:pic>
      <p:sp>
        <p:nvSpPr>
          <p:cNvPr id="80" name="Google Shape;80;p15"/>
          <p:cNvSpPr txBox="1"/>
          <p:nvPr/>
        </p:nvSpPr>
        <p:spPr>
          <a:xfrm>
            <a:off x="455125" y="345750"/>
            <a:ext cx="5405700" cy="489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-3302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Font typeface="Roboto"/>
              <a:buChar char="●"/>
            </a:pPr>
            <a:r>
              <a:rPr lang="en" sz="1600">
                <a:latin typeface="Roboto"/>
                <a:ea typeface="Roboto"/>
                <a:cs typeface="Roboto"/>
                <a:sym typeface="Roboto"/>
              </a:rPr>
              <a:t>Objective: To help students and alumni navigate, enrich and AMP-lify their lives beyond BITS</a:t>
            </a:r>
            <a:endParaRPr sz="1600">
              <a:latin typeface="Roboto"/>
              <a:ea typeface="Roboto"/>
              <a:cs typeface="Roboto"/>
              <a:sym typeface="Roboto"/>
            </a:endParaRPr>
          </a:p>
          <a:p>
            <a:pPr indent="-3302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Font typeface="Roboto"/>
              <a:buChar char="●"/>
            </a:pPr>
            <a:r>
              <a:rPr lang="en" sz="1600">
                <a:latin typeface="Roboto"/>
                <a:ea typeface="Roboto"/>
                <a:cs typeface="Roboto"/>
                <a:sym typeface="Roboto"/>
              </a:rPr>
              <a:t>Activities for current students</a:t>
            </a:r>
            <a:endParaRPr sz="1600">
              <a:latin typeface="Roboto"/>
              <a:ea typeface="Roboto"/>
              <a:cs typeface="Roboto"/>
              <a:sym typeface="Roboto"/>
            </a:endParaRPr>
          </a:p>
          <a:p>
            <a:pPr indent="-3302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Font typeface="Roboto"/>
              <a:buChar char="○"/>
            </a:pPr>
            <a:r>
              <a:rPr lang="en" sz="1600">
                <a:latin typeface="Roboto"/>
                <a:ea typeface="Roboto"/>
                <a:cs typeface="Roboto"/>
                <a:sym typeface="Roboto"/>
              </a:rPr>
              <a:t>Resume Building</a:t>
            </a:r>
            <a:endParaRPr sz="1600">
              <a:latin typeface="Roboto"/>
              <a:ea typeface="Roboto"/>
              <a:cs typeface="Roboto"/>
              <a:sym typeface="Roboto"/>
            </a:endParaRPr>
          </a:p>
          <a:p>
            <a:pPr indent="-3302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Font typeface="Roboto"/>
              <a:buChar char="○"/>
            </a:pPr>
            <a:r>
              <a:rPr lang="en" sz="1600">
                <a:latin typeface="Roboto"/>
                <a:ea typeface="Roboto"/>
                <a:cs typeface="Roboto"/>
                <a:sym typeface="Roboto"/>
              </a:rPr>
              <a:t>Domain Introductions</a:t>
            </a:r>
            <a:endParaRPr sz="1600">
              <a:latin typeface="Roboto"/>
              <a:ea typeface="Roboto"/>
              <a:cs typeface="Roboto"/>
              <a:sym typeface="Roboto"/>
            </a:endParaRPr>
          </a:p>
          <a:p>
            <a:pPr indent="-3302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Font typeface="Roboto"/>
              <a:buChar char="○"/>
            </a:pPr>
            <a:r>
              <a:rPr lang="en" sz="1600">
                <a:latin typeface="Roboto"/>
                <a:ea typeface="Roboto"/>
                <a:cs typeface="Roboto"/>
                <a:sym typeface="Roboto"/>
              </a:rPr>
              <a:t>Mock Interviews + Resume Review</a:t>
            </a:r>
            <a:endParaRPr sz="1600">
              <a:latin typeface="Roboto"/>
              <a:ea typeface="Roboto"/>
              <a:cs typeface="Roboto"/>
              <a:sym typeface="Roboto"/>
            </a:endParaRPr>
          </a:p>
          <a:p>
            <a:pPr indent="-3302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Font typeface="Roboto"/>
              <a:buChar char="●"/>
            </a:pPr>
            <a:r>
              <a:rPr lang="en" sz="1600">
                <a:latin typeface="Roboto"/>
                <a:ea typeface="Roboto"/>
                <a:cs typeface="Roboto"/>
                <a:sym typeface="Roboto"/>
              </a:rPr>
              <a:t>Activities for graduates</a:t>
            </a:r>
            <a:endParaRPr sz="1600">
              <a:latin typeface="Roboto"/>
              <a:ea typeface="Roboto"/>
              <a:cs typeface="Roboto"/>
              <a:sym typeface="Roboto"/>
            </a:endParaRPr>
          </a:p>
          <a:p>
            <a:pPr indent="-3302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Font typeface="Roboto"/>
              <a:buChar char="○"/>
            </a:pPr>
            <a:r>
              <a:rPr lang="en" sz="1600">
                <a:latin typeface="Roboto"/>
                <a:ea typeface="Roboto"/>
                <a:cs typeface="Roboto"/>
                <a:sym typeface="Roboto"/>
              </a:rPr>
              <a:t>Mentorship connect with senior alumni</a:t>
            </a:r>
            <a:endParaRPr sz="1600">
              <a:latin typeface="Roboto"/>
              <a:ea typeface="Roboto"/>
              <a:cs typeface="Roboto"/>
              <a:sym typeface="Roboto"/>
            </a:endParaRPr>
          </a:p>
          <a:p>
            <a:pPr indent="-3302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Font typeface="Roboto"/>
              <a:buChar char="○"/>
            </a:pPr>
            <a:r>
              <a:rPr lang="en" sz="1600">
                <a:latin typeface="Roboto"/>
                <a:ea typeface="Roboto"/>
                <a:cs typeface="Roboto"/>
                <a:sym typeface="Roboto"/>
              </a:rPr>
              <a:t>Networking Sessions</a:t>
            </a:r>
            <a:endParaRPr sz="16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81" name="Google Shape;81;p15"/>
          <p:cNvSpPr/>
          <p:nvPr/>
        </p:nvSpPr>
        <p:spPr>
          <a:xfrm>
            <a:off x="5641250" y="565925"/>
            <a:ext cx="3259500" cy="4152000"/>
          </a:xfrm>
          <a:prstGeom prst="verticalScroll">
            <a:avLst>
              <a:gd fmla="val 12500" name="adj"/>
            </a:avLst>
          </a:prstGeom>
          <a:solidFill>
            <a:srgbClr val="C9DAF8"/>
          </a:solidFill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/>
              <a:t>AMP Team </a:t>
            </a:r>
            <a:endParaRPr b="1"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/>
          </a:p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800"/>
              <a:t>(click name for LinkedIn)</a:t>
            </a:r>
            <a:endParaRPr b="1" sz="800"/>
          </a:p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u="sng">
                <a:solidFill>
                  <a:schemeClr val="hlink"/>
                </a:solidFill>
                <a:hlinkClick r:id="rId4"/>
              </a:rPr>
              <a:t>Charul Bansal</a:t>
            </a:r>
            <a:endParaRPr/>
          </a:p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u="sng">
                <a:solidFill>
                  <a:schemeClr val="hlink"/>
                </a:solidFill>
                <a:hlinkClick r:id="rId5"/>
              </a:rPr>
              <a:t>Palak Oswal</a:t>
            </a:r>
            <a:endParaRPr/>
          </a:p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u="sng">
                <a:solidFill>
                  <a:schemeClr val="hlink"/>
                </a:solidFill>
                <a:hlinkClick r:id="rId6"/>
              </a:rPr>
              <a:t>Subham Thakur</a:t>
            </a:r>
            <a:endParaRPr/>
          </a:p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u="sng">
                <a:solidFill>
                  <a:schemeClr val="accent5"/>
                </a:solidFill>
                <a:hlinkClick r:id="rId7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Utsav Awasthi</a:t>
            </a:r>
            <a:endParaRPr/>
          </a:p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u="sng">
                <a:solidFill>
                  <a:schemeClr val="accent5"/>
                </a:solidFill>
                <a:hlinkClick r:id="rId8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Vaishali Soni</a:t>
            </a:r>
            <a:endParaRPr/>
          </a:p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u="sng">
                <a:solidFill>
                  <a:schemeClr val="hlink"/>
                </a:solidFill>
                <a:hlinkClick r:id="rId9"/>
              </a:rPr>
              <a:t>Vidyayani Durga</a:t>
            </a:r>
            <a:endParaRPr/>
          </a:p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u="sng">
                <a:solidFill>
                  <a:schemeClr val="hlink"/>
                </a:solidFill>
                <a:hlinkClick r:id="rId10"/>
              </a:rPr>
              <a:t>Saee Abhyankar</a:t>
            </a:r>
            <a:endParaRPr/>
          </a:p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u="sng">
                <a:solidFill>
                  <a:schemeClr val="hlink"/>
                </a:solidFill>
                <a:hlinkClick r:id="rId11"/>
              </a:rPr>
              <a:t>Balajee RS</a:t>
            </a:r>
            <a:endParaRPr/>
          </a:p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u="sng">
                <a:solidFill>
                  <a:schemeClr val="hlink"/>
                </a:solidFill>
                <a:hlinkClick r:id="rId12"/>
              </a:rPr>
              <a:t>Jay Pokarna</a:t>
            </a:r>
            <a:endParaRPr/>
          </a:p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u="sng">
                <a:solidFill>
                  <a:schemeClr val="hlink"/>
                </a:solidFill>
                <a:hlinkClick r:id="rId13"/>
              </a:rPr>
              <a:t>Manan Ahuja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5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16"/>
          <p:cNvSpPr txBox="1"/>
          <p:nvPr>
            <p:ph type="title"/>
          </p:nvPr>
        </p:nvSpPr>
        <p:spPr>
          <a:xfrm>
            <a:off x="520500" y="1112100"/>
            <a:ext cx="8103000" cy="20265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3500"/>
              <a:t>The average time spent by recruiters looking at a resume is ...</a:t>
            </a:r>
            <a:endParaRPr sz="3500"/>
          </a:p>
        </p:txBody>
      </p:sp>
      <p:sp>
        <p:nvSpPr>
          <p:cNvPr id="87" name="Google Shape;87;p16"/>
          <p:cNvSpPr txBox="1"/>
          <p:nvPr/>
        </p:nvSpPr>
        <p:spPr>
          <a:xfrm>
            <a:off x="2755575" y="2802625"/>
            <a:ext cx="3830700" cy="817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4000">
                <a:solidFill>
                  <a:srgbClr val="93C47D"/>
                </a:solidFill>
                <a:latin typeface="Roboto Slab"/>
                <a:ea typeface="Roboto Slab"/>
                <a:cs typeface="Roboto Slab"/>
                <a:sym typeface="Roboto Slab"/>
              </a:rPr>
              <a:t>~</a:t>
            </a:r>
            <a:r>
              <a:rPr lang="en" sz="4000">
                <a:solidFill>
                  <a:srgbClr val="93C47D"/>
                </a:solidFill>
                <a:latin typeface="Roboto Slab"/>
                <a:ea typeface="Roboto Slab"/>
                <a:cs typeface="Roboto Slab"/>
                <a:sym typeface="Roboto Slab"/>
              </a:rPr>
              <a:t>7 seconds</a:t>
            </a:r>
            <a:endParaRPr sz="4000"/>
          </a:p>
        </p:txBody>
      </p:sp>
      <p:pic>
        <p:nvPicPr>
          <p:cNvPr id="88" name="Google Shape;88;p1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088799" y="0"/>
            <a:ext cx="1060695" cy="3048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8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92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17"/>
          <p:cNvSpPr txBox="1"/>
          <p:nvPr/>
        </p:nvSpPr>
        <p:spPr>
          <a:xfrm>
            <a:off x="0" y="0"/>
            <a:ext cx="9144000" cy="3048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What makes a good resume?</a:t>
            </a:r>
            <a:endParaRPr>
              <a:solidFill>
                <a:srgbClr val="FFFFFF"/>
              </a:solidFill>
            </a:endParaRPr>
          </a:p>
        </p:txBody>
      </p:sp>
      <p:sp>
        <p:nvSpPr>
          <p:cNvPr id="94" name="Google Shape;94;p17"/>
          <p:cNvSpPr txBox="1"/>
          <p:nvPr/>
        </p:nvSpPr>
        <p:spPr>
          <a:xfrm>
            <a:off x="734775" y="1077675"/>
            <a:ext cx="7739700" cy="3257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95" name="Google Shape;95;p17"/>
          <p:cNvSpPr txBox="1"/>
          <p:nvPr/>
        </p:nvSpPr>
        <p:spPr>
          <a:xfrm>
            <a:off x="593700" y="599925"/>
            <a:ext cx="7956600" cy="4212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-317500" lvl="0" marL="457200" marR="13970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400"/>
              <a:buFont typeface="Roboto"/>
              <a:buAutoNum type="arabicPeriod"/>
            </a:pPr>
            <a:r>
              <a:rPr lang="en" u="sng">
                <a:solidFill>
                  <a:schemeClr val="accent5"/>
                </a:solidFill>
                <a:latin typeface="Roboto"/>
                <a:ea typeface="Roboto"/>
                <a:cs typeface="Roboto"/>
                <a:sym typeface="Roboto"/>
                <a:hlinkClick action="ppaction://hlinksldjump" r:id="rId3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Professional Experience</a:t>
            </a:r>
            <a:r>
              <a:rPr lang="en" u="sng">
                <a:solidFill>
                  <a:schemeClr val="accent5"/>
                </a:solidFill>
                <a:hlinkClick action="ppaction://hlinksldjump" r:id="rId4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 </a:t>
            </a:r>
            <a:endParaRPr>
              <a:latin typeface="Roboto"/>
              <a:ea typeface="Roboto"/>
              <a:cs typeface="Roboto"/>
              <a:sym typeface="Roboto"/>
            </a:endParaRPr>
          </a:p>
          <a:p>
            <a:pPr indent="-317500" lvl="1" marL="914400" marR="13970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400"/>
              <a:buFont typeface="Roboto"/>
              <a:buAutoNum type="alphaLcPeriod"/>
            </a:pPr>
            <a:r>
              <a:rPr lang="en" u="sng">
                <a:solidFill>
                  <a:schemeClr val="hlink"/>
                </a:solidFill>
                <a:latin typeface="Roboto"/>
                <a:ea typeface="Roboto"/>
                <a:cs typeface="Roboto"/>
                <a:sym typeface="Roboto"/>
                <a:hlinkClick action="ppaction://hlinksldjump" r:id="rId5"/>
              </a:rPr>
              <a:t>Tools and Techniques</a:t>
            </a:r>
            <a:endParaRPr>
              <a:latin typeface="Roboto"/>
              <a:ea typeface="Roboto"/>
              <a:cs typeface="Roboto"/>
              <a:sym typeface="Roboto"/>
            </a:endParaRPr>
          </a:p>
          <a:p>
            <a:pPr indent="0" lvl="0" marL="914400" marR="13970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  <a:p>
            <a:pPr indent="-317500" lvl="0" marL="457200" marR="13970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400"/>
              <a:buFont typeface="Roboto"/>
              <a:buAutoNum type="arabicPeriod"/>
            </a:pPr>
            <a:r>
              <a:rPr lang="en" u="sng">
                <a:solidFill>
                  <a:schemeClr val="hlink"/>
                </a:solidFill>
                <a:latin typeface="Roboto"/>
                <a:ea typeface="Roboto"/>
                <a:cs typeface="Roboto"/>
                <a:sym typeface="Roboto"/>
                <a:hlinkClick action="ppaction://hlinksldjump" r:id="rId6"/>
              </a:rPr>
              <a:t>Academics and Co-curriculars</a:t>
            </a:r>
            <a:endParaRPr>
              <a:latin typeface="Roboto"/>
              <a:ea typeface="Roboto"/>
              <a:cs typeface="Roboto"/>
              <a:sym typeface="Roboto"/>
            </a:endParaRPr>
          </a:p>
          <a:p>
            <a:pPr indent="-317500" lvl="1" marL="914400" marR="13970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400"/>
              <a:buFont typeface="Roboto"/>
              <a:buAutoNum type="alphaLcPeriod"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Coursework, MOOCs and Certifications, Scholarships &amp; Awards, Conferences &amp; Workshops</a:t>
            </a:r>
            <a:endParaRPr>
              <a:latin typeface="Roboto"/>
              <a:ea typeface="Roboto"/>
              <a:cs typeface="Roboto"/>
              <a:sym typeface="Roboto"/>
            </a:endParaRPr>
          </a:p>
          <a:p>
            <a:pPr indent="-317500" lvl="1" marL="914400" marR="13970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400"/>
              <a:buFont typeface="Roboto"/>
              <a:buAutoNum type="alphaLcPeriod"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Academic Projects</a:t>
            </a:r>
            <a:endParaRPr>
              <a:latin typeface="Roboto"/>
              <a:ea typeface="Roboto"/>
              <a:cs typeface="Roboto"/>
              <a:sym typeface="Roboto"/>
            </a:endParaRPr>
          </a:p>
          <a:p>
            <a:pPr indent="0" lvl="0" marL="914400" marR="13970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  <a:p>
            <a:pPr indent="-317500" lvl="0" marL="457200" marR="13970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400"/>
              <a:buFont typeface="Roboto"/>
              <a:buAutoNum type="arabicPeriod"/>
            </a:pPr>
            <a:r>
              <a:rPr lang="en" u="sng">
                <a:solidFill>
                  <a:schemeClr val="hlink"/>
                </a:solidFill>
                <a:latin typeface="Roboto"/>
                <a:ea typeface="Roboto"/>
                <a:cs typeface="Roboto"/>
                <a:sym typeface="Roboto"/>
                <a:hlinkClick action="ppaction://hlinksldjump" r:id="rId7"/>
              </a:rPr>
              <a:t>Extra Curriculars Activities</a:t>
            </a:r>
            <a:endParaRPr>
              <a:latin typeface="Roboto"/>
              <a:ea typeface="Roboto"/>
              <a:cs typeface="Roboto"/>
              <a:sym typeface="Roboto"/>
            </a:endParaRPr>
          </a:p>
          <a:p>
            <a:pPr indent="-317500" lvl="1" marL="914400" marR="13970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400"/>
              <a:buFont typeface="Roboto"/>
              <a:buAutoNum type="alphaLcPeriod"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Positions of Responsibility and Volunteer Experience</a:t>
            </a:r>
            <a:endParaRPr>
              <a:latin typeface="Roboto"/>
              <a:ea typeface="Roboto"/>
              <a:cs typeface="Roboto"/>
              <a:sym typeface="Roboto"/>
            </a:endParaRPr>
          </a:p>
          <a:p>
            <a:pPr indent="-317500" lvl="1" marL="914400" marR="13970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400"/>
              <a:buFont typeface="Roboto"/>
              <a:buAutoNum type="alphaLcPeriod"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External Awards and Scholarships</a:t>
            </a:r>
            <a:endParaRPr>
              <a:latin typeface="Roboto"/>
              <a:ea typeface="Roboto"/>
              <a:cs typeface="Roboto"/>
              <a:sym typeface="Roboto"/>
            </a:endParaRPr>
          </a:p>
          <a:p>
            <a:pPr indent="-317500" lvl="1" marL="914400" marR="13970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400"/>
              <a:buFont typeface="Roboto"/>
              <a:buAutoNum type="alphaLcPeriod"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Patents and Publications</a:t>
            </a:r>
            <a:endParaRPr>
              <a:latin typeface="Roboto"/>
              <a:ea typeface="Roboto"/>
              <a:cs typeface="Roboto"/>
              <a:sym typeface="Roboto"/>
            </a:endParaRPr>
          </a:p>
          <a:p>
            <a:pPr indent="-317500" lvl="1" marL="914400" marR="13970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400"/>
              <a:buFont typeface="Roboto"/>
              <a:buAutoNum type="alphaLcPeriod"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Competitions and Test Scores</a:t>
            </a:r>
            <a:endParaRPr>
              <a:latin typeface="Roboto"/>
              <a:ea typeface="Roboto"/>
              <a:cs typeface="Roboto"/>
              <a:sym typeface="Roboto"/>
            </a:endParaRPr>
          </a:p>
          <a:p>
            <a:pPr indent="-317500" lvl="1" marL="914400" marR="13970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400"/>
              <a:buFont typeface="Roboto"/>
              <a:buAutoNum type="alphaLcPeriod"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Others - Languages known, Interests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id="96" name="Google Shape;96;p17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8088799" y="0"/>
            <a:ext cx="1060695" cy="3048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0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p18"/>
          <p:cNvSpPr txBox="1"/>
          <p:nvPr>
            <p:ph type="title"/>
          </p:nvPr>
        </p:nvSpPr>
        <p:spPr>
          <a:xfrm>
            <a:off x="520500" y="1059550"/>
            <a:ext cx="8103000" cy="1722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3500"/>
              <a:t>Worried you might not have enough content for all the sections? </a:t>
            </a:r>
            <a:endParaRPr sz="3500"/>
          </a:p>
        </p:txBody>
      </p:sp>
      <p:sp>
        <p:nvSpPr>
          <p:cNvPr id="102" name="Google Shape;102;p18"/>
          <p:cNvSpPr txBox="1"/>
          <p:nvPr/>
        </p:nvSpPr>
        <p:spPr>
          <a:xfrm>
            <a:off x="696900" y="2679175"/>
            <a:ext cx="7750200" cy="1487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4000">
                <a:solidFill>
                  <a:srgbClr val="93C47D"/>
                </a:solidFill>
                <a:latin typeface="Roboto Slab"/>
                <a:ea typeface="Roboto Slab"/>
                <a:cs typeface="Roboto Slab"/>
                <a:sym typeface="Roboto Slab"/>
              </a:rPr>
              <a:t>Well y</a:t>
            </a:r>
            <a:r>
              <a:rPr lang="en" sz="4000">
                <a:solidFill>
                  <a:srgbClr val="93C47D"/>
                </a:solidFill>
                <a:latin typeface="Roboto Slab"/>
                <a:ea typeface="Roboto Slab"/>
                <a:cs typeface="Roboto Slab"/>
                <a:sym typeface="Roboto Slab"/>
              </a:rPr>
              <a:t>ou should not! </a:t>
            </a:r>
            <a:endParaRPr sz="4000">
              <a:solidFill>
                <a:srgbClr val="93C47D"/>
              </a:solidFill>
              <a:latin typeface="Roboto Slab"/>
              <a:ea typeface="Roboto Slab"/>
              <a:cs typeface="Roboto Slab"/>
              <a:sym typeface="Roboto Slab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4000">
                <a:solidFill>
                  <a:srgbClr val="93C47D"/>
                </a:solidFill>
                <a:latin typeface="Roboto Slab"/>
                <a:ea typeface="Roboto Slab"/>
                <a:cs typeface="Roboto Slab"/>
                <a:sym typeface="Roboto Slab"/>
              </a:rPr>
              <a:t>For your ally is the </a:t>
            </a:r>
            <a:r>
              <a:rPr lang="en" sz="4000" strike="sngStrike">
                <a:solidFill>
                  <a:srgbClr val="93C47D"/>
                </a:solidFill>
                <a:latin typeface="Roboto Slab"/>
                <a:ea typeface="Roboto Slab"/>
                <a:cs typeface="Roboto Slab"/>
                <a:sym typeface="Roboto Slab"/>
              </a:rPr>
              <a:t>Force</a:t>
            </a:r>
            <a:r>
              <a:rPr lang="en" sz="4000">
                <a:solidFill>
                  <a:srgbClr val="93C47D"/>
                </a:solidFill>
                <a:latin typeface="Roboto Slab"/>
                <a:ea typeface="Roboto Slab"/>
                <a:cs typeface="Roboto Slab"/>
                <a:sym typeface="Roboto Slab"/>
              </a:rPr>
              <a:t> AMP</a:t>
            </a:r>
            <a:endParaRPr sz="4000">
              <a:solidFill>
                <a:srgbClr val="93C47D"/>
              </a:solidFill>
              <a:latin typeface="Roboto Slab"/>
              <a:ea typeface="Roboto Slab"/>
              <a:cs typeface="Roboto Slab"/>
              <a:sym typeface="Roboto Slab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4000">
              <a:solidFill>
                <a:srgbClr val="93C47D"/>
              </a:solidFill>
              <a:latin typeface="Roboto Slab"/>
              <a:ea typeface="Roboto Slab"/>
              <a:cs typeface="Roboto Slab"/>
              <a:sym typeface="Roboto Slab"/>
            </a:endParaRPr>
          </a:p>
        </p:txBody>
      </p:sp>
      <p:pic>
        <p:nvPicPr>
          <p:cNvPr id="103" name="Google Shape;103;p1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088799" y="0"/>
            <a:ext cx="1060695" cy="3048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0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7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p19"/>
          <p:cNvSpPr txBox="1"/>
          <p:nvPr>
            <p:ph type="title"/>
          </p:nvPr>
        </p:nvSpPr>
        <p:spPr>
          <a:xfrm>
            <a:off x="520500" y="796500"/>
            <a:ext cx="8103000" cy="20265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3500"/>
              <a:t>What counts as a professional experience?</a:t>
            </a:r>
            <a:endParaRPr sz="3500"/>
          </a:p>
        </p:txBody>
      </p:sp>
      <p:pic>
        <p:nvPicPr>
          <p:cNvPr id="109" name="Google Shape;109;p1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088799" y="0"/>
            <a:ext cx="1060695" cy="304800"/>
          </a:xfrm>
          <a:prstGeom prst="rect">
            <a:avLst/>
          </a:prstGeom>
          <a:noFill/>
          <a:ln>
            <a:noFill/>
          </a:ln>
        </p:spPr>
      </p:pic>
      <p:sp>
        <p:nvSpPr>
          <p:cNvPr id="110" name="Google Shape;110;p19"/>
          <p:cNvSpPr txBox="1"/>
          <p:nvPr/>
        </p:nvSpPr>
        <p:spPr>
          <a:xfrm>
            <a:off x="696900" y="2679175"/>
            <a:ext cx="7750200" cy="1487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>
                <a:solidFill>
                  <a:srgbClr val="93C47D"/>
                </a:solidFill>
                <a:latin typeface="Roboto Slab"/>
                <a:ea typeface="Roboto Slab"/>
                <a:cs typeface="Roboto Slab"/>
                <a:sym typeface="Roboto Slab"/>
              </a:rPr>
              <a:t>Internships, Full time work-ex, Own </a:t>
            </a:r>
            <a:r>
              <a:rPr lang="en" sz="2000">
                <a:solidFill>
                  <a:srgbClr val="93C47D"/>
                </a:solidFill>
                <a:latin typeface="Roboto Slab"/>
                <a:ea typeface="Roboto Slab"/>
                <a:cs typeface="Roboto Slab"/>
                <a:sym typeface="Roboto Slab"/>
              </a:rPr>
              <a:t>Startup</a:t>
            </a:r>
            <a:r>
              <a:rPr lang="en" sz="2000">
                <a:solidFill>
                  <a:srgbClr val="93C47D"/>
                </a:solidFill>
                <a:latin typeface="Roboto Slab"/>
                <a:ea typeface="Roboto Slab"/>
                <a:cs typeface="Roboto Slab"/>
                <a:sym typeface="Roboto Slab"/>
              </a:rPr>
              <a:t> (if it has customers)</a:t>
            </a:r>
            <a:endParaRPr sz="2000">
              <a:solidFill>
                <a:srgbClr val="93C47D"/>
              </a:solidFill>
              <a:latin typeface="Roboto Slab"/>
              <a:ea typeface="Roboto Slab"/>
              <a:cs typeface="Roboto Slab"/>
              <a:sym typeface="Roboto Slab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0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14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p20"/>
          <p:cNvSpPr txBox="1"/>
          <p:nvPr/>
        </p:nvSpPr>
        <p:spPr>
          <a:xfrm>
            <a:off x="0" y="0"/>
            <a:ext cx="9144000" cy="3048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Professional Experience</a:t>
            </a:r>
            <a:endParaRPr>
              <a:solidFill>
                <a:srgbClr val="FFFFFF"/>
              </a:solidFill>
            </a:endParaRPr>
          </a:p>
        </p:txBody>
      </p:sp>
      <p:pic>
        <p:nvPicPr>
          <p:cNvPr id="116" name="Google Shape;116;p2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319213" y="1742300"/>
            <a:ext cx="7267575" cy="1428750"/>
          </a:xfrm>
          <a:prstGeom prst="rect">
            <a:avLst/>
          </a:prstGeom>
          <a:noFill/>
          <a:ln>
            <a:noFill/>
          </a:ln>
        </p:spPr>
      </p:pic>
      <p:sp>
        <p:nvSpPr>
          <p:cNvPr id="117" name="Google Shape;117;p20"/>
          <p:cNvSpPr/>
          <p:nvPr/>
        </p:nvSpPr>
        <p:spPr>
          <a:xfrm>
            <a:off x="897425" y="991525"/>
            <a:ext cx="2358000" cy="640500"/>
          </a:xfrm>
          <a:prstGeom prst="wedgeRectCallout">
            <a:avLst>
              <a:gd fmla="val -20833" name="adj1"/>
              <a:gd fmla="val 62500" name="adj2"/>
            </a:avLst>
          </a:prstGeom>
          <a:solidFill>
            <a:schemeClr val="accen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rgbClr val="FFFFFF"/>
                </a:solidFill>
              </a:rPr>
              <a:t>Write about Professional Work Experiences like internships or any start-up(s) you co-founded.</a:t>
            </a:r>
            <a:endParaRPr sz="1000">
              <a:solidFill>
                <a:srgbClr val="FFFFFF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rgbClr val="FFFFFF"/>
                </a:solidFill>
              </a:rPr>
              <a:t> Most recent first</a:t>
            </a:r>
            <a:endParaRPr sz="1000">
              <a:solidFill>
                <a:srgbClr val="FFFFFF"/>
              </a:solidFill>
            </a:endParaRPr>
          </a:p>
        </p:txBody>
      </p:sp>
      <p:sp>
        <p:nvSpPr>
          <p:cNvPr id="118" name="Google Shape;118;p20"/>
          <p:cNvSpPr/>
          <p:nvPr/>
        </p:nvSpPr>
        <p:spPr>
          <a:xfrm>
            <a:off x="4550925" y="490300"/>
            <a:ext cx="2358000" cy="640500"/>
          </a:xfrm>
          <a:prstGeom prst="wedgeRectCallout">
            <a:avLst>
              <a:gd fmla="val 63337" name="adj1"/>
              <a:gd fmla="val 246557" name="adj2"/>
            </a:avLst>
          </a:prstGeom>
          <a:solidFill>
            <a:schemeClr val="accen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rgbClr val="FFFFFF"/>
                </a:solidFill>
              </a:rPr>
              <a:t>QUANTIFY - Write business impact in numbers - dollar values, #users, improved efficiency in hours, %improvements, rankings, ratings etc</a:t>
            </a:r>
            <a:endParaRPr sz="1000">
              <a:solidFill>
                <a:srgbClr val="FFFFFF"/>
              </a:solidFill>
            </a:endParaRPr>
          </a:p>
        </p:txBody>
      </p:sp>
      <p:sp>
        <p:nvSpPr>
          <p:cNvPr id="119" name="Google Shape;119;p20"/>
          <p:cNvSpPr/>
          <p:nvPr/>
        </p:nvSpPr>
        <p:spPr>
          <a:xfrm>
            <a:off x="3620400" y="1404650"/>
            <a:ext cx="769500" cy="483300"/>
          </a:xfrm>
          <a:prstGeom prst="wedgeRectCallout">
            <a:avLst>
              <a:gd fmla="val -20833" name="adj1"/>
              <a:gd fmla="val 62500" name="adj2"/>
            </a:avLst>
          </a:prstGeom>
          <a:solidFill>
            <a:schemeClr val="accen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rgbClr val="FFFFFF"/>
                </a:solidFill>
              </a:rPr>
              <a:t>One liner about the company</a:t>
            </a:r>
            <a:endParaRPr sz="1000">
              <a:solidFill>
                <a:srgbClr val="FFFFFF"/>
              </a:solidFill>
            </a:endParaRPr>
          </a:p>
        </p:txBody>
      </p:sp>
      <p:sp>
        <p:nvSpPr>
          <p:cNvPr id="120" name="Google Shape;120;p20"/>
          <p:cNvSpPr/>
          <p:nvPr/>
        </p:nvSpPr>
        <p:spPr>
          <a:xfrm>
            <a:off x="161525" y="2318750"/>
            <a:ext cx="1152600" cy="640500"/>
          </a:xfrm>
          <a:prstGeom prst="wedgeRectCallout">
            <a:avLst>
              <a:gd fmla="val 55135" name="adj1"/>
              <a:gd fmla="val -65328" name="adj2"/>
            </a:avLst>
          </a:prstGeom>
          <a:solidFill>
            <a:schemeClr val="accen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rgbClr val="FFFFFF"/>
                </a:solidFill>
              </a:rPr>
              <a:t>List all Position(s) held to show growth. Most recent first</a:t>
            </a:r>
            <a:endParaRPr sz="1000">
              <a:solidFill>
                <a:srgbClr val="FFFFFF"/>
              </a:solidFill>
            </a:endParaRPr>
          </a:p>
        </p:txBody>
      </p:sp>
      <p:sp>
        <p:nvSpPr>
          <p:cNvPr id="121" name="Google Shape;121;p20"/>
          <p:cNvSpPr/>
          <p:nvPr/>
        </p:nvSpPr>
        <p:spPr>
          <a:xfrm flipH="1">
            <a:off x="533450" y="3930675"/>
            <a:ext cx="2405400" cy="640500"/>
          </a:xfrm>
          <a:prstGeom prst="wedgeRectCallout">
            <a:avLst>
              <a:gd fmla="val 4454" name="adj1"/>
              <a:gd fmla="val -208388" name="adj2"/>
            </a:avLst>
          </a:prstGeom>
          <a:solidFill>
            <a:schemeClr val="accen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rgbClr val="FFFFFF"/>
                </a:solidFill>
              </a:rPr>
              <a:t>Google “verbs for &lt;domain&gt;”</a:t>
            </a:r>
            <a:endParaRPr sz="1000">
              <a:solidFill>
                <a:srgbClr val="FFFFFF"/>
              </a:solidFill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rgbClr val="FFFFFF"/>
                </a:solidFill>
              </a:rPr>
              <a:t>Examples - Integrated, Consolidated, Organized, Delivered, Engineered etc.</a:t>
            </a:r>
            <a:endParaRPr sz="1000">
              <a:solidFill>
                <a:srgbClr val="FFFFFF"/>
              </a:solidFill>
            </a:endParaRPr>
          </a:p>
        </p:txBody>
      </p:sp>
      <p:sp>
        <p:nvSpPr>
          <p:cNvPr id="122" name="Google Shape;122;p20"/>
          <p:cNvSpPr/>
          <p:nvPr/>
        </p:nvSpPr>
        <p:spPr>
          <a:xfrm flipH="1">
            <a:off x="3955475" y="3599525"/>
            <a:ext cx="2405400" cy="640500"/>
          </a:xfrm>
          <a:prstGeom prst="wedgeRectCallout">
            <a:avLst>
              <a:gd fmla="val 14594" name="adj1"/>
              <a:gd fmla="val -106526" name="adj2"/>
            </a:avLst>
          </a:prstGeom>
          <a:solidFill>
            <a:schemeClr val="accen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rgbClr val="FFFFFF"/>
                </a:solidFill>
              </a:rPr>
              <a:t>One bullet for one project</a:t>
            </a:r>
            <a:endParaRPr sz="1000">
              <a:solidFill>
                <a:srgbClr val="FFFFFF"/>
              </a:solidFill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rgbClr val="FFFFFF"/>
                </a:solidFill>
              </a:rPr>
              <a:t>Use PAR method - Problem, Action and Result</a:t>
            </a:r>
            <a:endParaRPr sz="1000">
              <a:solidFill>
                <a:srgbClr val="FFFFFF"/>
              </a:solidFill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rgbClr val="FFFFFF"/>
                </a:solidFill>
              </a:rPr>
              <a:t>Keep it short and to the point</a:t>
            </a:r>
            <a:endParaRPr sz="1000">
              <a:solidFill>
                <a:srgbClr val="FFFFFF"/>
              </a:solidFill>
            </a:endParaRPr>
          </a:p>
        </p:txBody>
      </p:sp>
      <p:sp>
        <p:nvSpPr>
          <p:cNvPr id="123" name="Google Shape;123;p20"/>
          <p:cNvSpPr/>
          <p:nvPr/>
        </p:nvSpPr>
        <p:spPr>
          <a:xfrm flipH="1">
            <a:off x="7377500" y="3930675"/>
            <a:ext cx="1482900" cy="640500"/>
          </a:xfrm>
          <a:prstGeom prst="wedgeRectCallout">
            <a:avLst>
              <a:gd fmla="val 43368" name="adj1"/>
              <a:gd fmla="val -165945" name="adj2"/>
            </a:avLst>
          </a:prstGeom>
          <a:solidFill>
            <a:schemeClr val="accen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rgbClr val="FFFFFF"/>
                </a:solidFill>
              </a:rPr>
              <a:t>Do NOT be vague. Use simple words and avoid jargons</a:t>
            </a:r>
            <a:endParaRPr sz="1000">
              <a:solidFill>
                <a:srgbClr val="FFFFFF"/>
              </a:solidFill>
            </a:endParaRPr>
          </a:p>
        </p:txBody>
      </p:sp>
      <p:pic>
        <p:nvPicPr>
          <p:cNvPr id="124" name="Google Shape;124;p20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7599350" y="1742300"/>
            <a:ext cx="933450" cy="228600"/>
          </a:xfrm>
          <a:prstGeom prst="rect">
            <a:avLst/>
          </a:prstGeom>
          <a:noFill/>
          <a:ln>
            <a:noFill/>
          </a:ln>
        </p:spPr>
      </p:pic>
      <p:sp>
        <p:nvSpPr>
          <p:cNvPr id="125" name="Google Shape;125;p20"/>
          <p:cNvSpPr/>
          <p:nvPr/>
        </p:nvSpPr>
        <p:spPr>
          <a:xfrm>
            <a:off x="7542650" y="1148725"/>
            <a:ext cx="1152600" cy="483300"/>
          </a:xfrm>
          <a:prstGeom prst="wedgeRectCallout">
            <a:avLst>
              <a:gd fmla="val -20833" name="adj1"/>
              <a:gd fmla="val 62500" name="adj2"/>
            </a:avLst>
          </a:prstGeom>
          <a:solidFill>
            <a:schemeClr val="accen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rgbClr val="FFFFFF"/>
                </a:solidFill>
              </a:rPr>
              <a:t>Write timeline against each position</a:t>
            </a:r>
            <a:endParaRPr sz="1000">
              <a:solidFill>
                <a:srgbClr val="FFFFFF"/>
              </a:solidFill>
            </a:endParaRPr>
          </a:p>
        </p:txBody>
      </p:sp>
      <p:pic>
        <p:nvPicPr>
          <p:cNvPr id="126" name="Google Shape;126;p20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8088799" y="0"/>
            <a:ext cx="1060695" cy="3048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30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p21"/>
          <p:cNvSpPr txBox="1"/>
          <p:nvPr/>
        </p:nvSpPr>
        <p:spPr>
          <a:xfrm>
            <a:off x="0" y="0"/>
            <a:ext cx="9144000" cy="3048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Some tips on punctuation and highlighting important parts</a:t>
            </a:r>
            <a:endParaRPr>
              <a:solidFill>
                <a:srgbClr val="FFFFFF"/>
              </a:solidFill>
            </a:endParaRPr>
          </a:p>
        </p:txBody>
      </p:sp>
      <p:pic>
        <p:nvPicPr>
          <p:cNvPr id="132" name="Google Shape;132;p2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088799" y="0"/>
            <a:ext cx="1060695" cy="304800"/>
          </a:xfrm>
          <a:prstGeom prst="rect">
            <a:avLst/>
          </a:prstGeom>
          <a:noFill/>
          <a:ln>
            <a:noFill/>
          </a:ln>
        </p:spPr>
      </p:pic>
      <p:sp>
        <p:nvSpPr>
          <p:cNvPr id="133" name="Google Shape;133;p21"/>
          <p:cNvSpPr txBox="1"/>
          <p:nvPr/>
        </p:nvSpPr>
        <p:spPr>
          <a:xfrm>
            <a:off x="470975" y="954325"/>
            <a:ext cx="8155200" cy="387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SzPts val="2000"/>
              <a:buFont typeface="Roboto"/>
              <a:buChar char="●"/>
            </a:pPr>
            <a:r>
              <a:rPr lang="en" sz="2000">
                <a:latin typeface="Roboto"/>
                <a:ea typeface="Roboto"/>
                <a:cs typeface="Roboto"/>
                <a:sym typeface="Roboto"/>
              </a:rPr>
              <a:t>Use Caps/Bold/Italic sparingly</a:t>
            </a:r>
            <a:endParaRPr sz="2000">
              <a:latin typeface="Roboto"/>
              <a:ea typeface="Roboto"/>
              <a:cs typeface="Roboto"/>
              <a:sym typeface="Roboto"/>
            </a:endParaRPr>
          </a:p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SzPts val="2000"/>
              <a:buFont typeface="Roboto"/>
              <a:buChar char="●"/>
            </a:pPr>
            <a:r>
              <a:rPr lang="en" sz="2000">
                <a:latin typeface="Roboto"/>
                <a:ea typeface="Roboto"/>
                <a:cs typeface="Roboto"/>
                <a:sym typeface="Roboto"/>
              </a:rPr>
              <a:t>Be consistent. For reference - </a:t>
            </a:r>
            <a:endParaRPr sz="2000">
              <a:latin typeface="Roboto"/>
              <a:ea typeface="Roboto"/>
              <a:cs typeface="Roboto"/>
              <a:sym typeface="Roboto"/>
            </a:endParaRPr>
          </a:p>
          <a:p>
            <a:pPr indent="-355600" lvl="1" marL="914400" rtl="0" algn="l">
              <a:spcBef>
                <a:spcPts val="0"/>
              </a:spcBef>
              <a:spcAft>
                <a:spcPts val="0"/>
              </a:spcAft>
              <a:buSzPts val="2000"/>
              <a:buFont typeface="Roboto"/>
              <a:buChar char="○"/>
            </a:pPr>
            <a:r>
              <a:rPr lang="en" sz="2000">
                <a:latin typeface="Roboto"/>
                <a:ea typeface="Roboto"/>
                <a:cs typeface="Roboto"/>
                <a:sym typeface="Roboto"/>
              </a:rPr>
              <a:t>Capitalize or Bold section headers</a:t>
            </a:r>
            <a:endParaRPr sz="2000">
              <a:latin typeface="Roboto"/>
              <a:ea typeface="Roboto"/>
              <a:cs typeface="Roboto"/>
              <a:sym typeface="Roboto"/>
            </a:endParaRPr>
          </a:p>
          <a:p>
            <a:pPr indent="-355600" lvl="1" marL="914400" rtl="0" algn="l">
              <a:spcBef>
                <a:spcPts val="0"/>
              </a:spcBef>
              <a:spcAft>
                <a:spcPts val="0"/>
              </a:spcAft>
              <a:buSzPts val="2000"/>
              <a:buFont typeface="Roboto"/>
              <a:buChar char="○"/>
            </a:pPr>
            <a:r>
              <a:rPr lang="en" sz="2000">
                <a:latin typeface="Roboto"/>
                <a:ea typeface="Roboto"/>
                <a:cs typeface="Roboto"/>
                <a:sym typeface="Roboto"/>
              </a:rPr>
              <a:t>Bold company names and impact</a:t>
            </a:r>
            <a:endParaRPr sz="2000">
              <a:latin typeface="Roboto"/>
              <a:ea typeface="Roboto"/>
              <a:cs typeface="Roboto"/>
              <a:sym typeface="Roboto"/>
            </a:endParaRPr>
          </a:p>
          <a:p>
            <a:pPr indent="-355600" lvl="1" marL="914400" rtl="0" algn="l">
              <a:spcBef>
                <a:spcPts val="0"/>
              </a:spcBef>
              <a:spcAft>
                <a:spcPts val="0"/>
              </a:spcAft>
              <a:buSzPts val="2000"/>
              <a:buFont typeface="Roboto"/>
              <a:buChar char="○"/>
            </a:pPr>
            <a:r>
              <a:rPr lang="en" sz="2000">
                <a:latin typeface="Roboto"/>
                <a:ea typeface="Roboto"/>
                <a:cs typeface="Roboto"/>
                <a:sym typeface="Roboto"/>
              </a:rPr>
              <a:t>Italicize name of position, degree and timeline i.e. things which are less important that the Bold components</a:t>
            </a:r>
            <a:endParaRPr sz="2000">
              <a:latin typeface="Roboto"/>
              <a:ea typeface="Roboto"/>
              <a:cs typeface="Roboto"/>
              <a:sym typeface="Roboto"/>
            </a:endParaRPr>
          </a:p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SzPts val="2000"/>
              <a:buFont typeface="Roboto"/>
              <a:buChar char="●"/>
            </a:pPr>
            <a:r>
              <a:rPr lang="en" sz="2000">
                <a:latin typeface="Roboto"/>
                <a:ea typeface="Roboto"/>
                <a:cs typeface="Roboto"/>
                <a:sym typeface="Roboto"/>
              </a:rPr>
              <a:t>Do NOT use underline</a:t>
            </a:r>
            <a:endParaRPr sz="2000">
              <a:latin typeface="Roboto"/>
              <a:ea typeface="Roboto"/>
              <a:cs typeface="Roboto"/>
              <a:sym typeface="Roboto"/>
            </a:endParaRPr>
          </a:p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SzPts val="2000"/>
              <a:buFont typeface="Roboto"/>
              <a:buChar char="●"/>
            </a:pPr>
            <a:r>
              <a:rPr lang="en" sz="2000">
                <a:latin typeface="Roboto"/>
                <a:ea typeface="Roboto"/>
                <a:cs typeface="Roboto"/>
                <a:sym typeface="Roboto"/>
              </a:rPr>
              <a:t>Be consistent with periods at the end of bullets - Either end all bullets with a period or none</a:t>
            </a:r>
            <a:endParaRPr sz="2000">
              <a:latin typeface="Roboto"/>
              <a:ea typeface="Roboto"/>
              <a:cs typeface="Roboto"/>
              <a:sym typeface="Roboto"/>
            </a:endParaRPr>
          </a:p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SzPts val="2000"/>
              <a:buFont typeface="Roboto"/>
              <a:buChar char="●"/>
            </a:pPr>
            <a:r>
              <a:rPr lang="en" sz="2000">
                <a:latin typeface="Roboto"/>
                <a:ea typeface="Roboto"/>
                <a:cs typeface="Roboto"/>
                <a:sym typeface="Roboto"/>
              </a:rPr>
              <a:t>DO NOT go crazy on Caps/Bold/Italic </a:t>
            </a:r>
            <a:endParaRPr sz="2000"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37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Google Shape;138;p22"/>
          <p:cNvSpPr txBox="1"/>
          <p:nvPr/>
        </p:nvSpPr>
        <p:spPr>
          <a:xfrm>
            <a:off x="0" y="0"/>
            <a:ext cx="9144000" cy="3048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Tools and Techniques</a:t>
            </a:r>
            <a:endParaRPr>
              <a:solidFill>
                <a:srgbClr val="FFFFFF"/>
              </a:solidFill>
            </a:endParaRPr>
          </a:p>
        </p:txBody>
      </p:sp>
      <p:pic>
        <p:nvPicPr>
          <p:cNvPr id="139" name="Google Shape;139;p2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088799" y="0"/>
            <a:ext cx="1060695" cy="3048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40" name="Google Shape;140;p22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277500" y="779825"/>
            <a:ext cx="4705350" cy="609600"/>
          </a:xfrm>
          <a:prstGeom prst="rect">
            <a:avLst/>
          </a:prstGeom>
          <a:noFill/>
          <a:ln>
            <a:noFill/>
          </a:ln>
        </p:spPr>
      </p:pic>
      <p:sp>
        <p:nvSpPr>
          <p:cNvPr id="141" name="Google Shape;141;p22"/>
          <p:cNvSpPr/>
          <p:nvPr/>
        </p:nvSpPr>
        <p:spPr>
          <a:xfrm>
            <a:off x="71825" y="378446"/>
            <a:ext cx="6673200" cy="46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/>
              <a:t>Always have a section mentioning hard skills you know. Here are some illustrative examples -</a:t>
            </a:r>
            <a:endParaRPr sz="1200"/>
          </a:p>
        </p:txBody>
      </p:sp>
      <p:sp>
        <p:nvSpPr>
          <p:cNvPr id="142" name="Google Shape;142;p22"/>
          <p:cNvSpPr/>
          <p:nvPr/>
        </p:nvSpPr>
        <p:spPr>
          <a:xfrm>
            <a:off x="2597675" y="837750"/>
            <a:ext cx="1621500" cy="464700"/>
          </a:xfrm>
          <a:prstGeom prst="rightArrow">
            <a:avLst>
              <a:gd fmla="val 50000" name="adj1"/>
              <a:gd fmla="val 50000" name="adj2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/>
              <a:t>Full-stack developer</a:t>
            </a:r>
            <a:endParaRPr sz="1000"/>
          </a:p>
        </p:txBody>
      </p:sp>
      <p:pic>
        <p:nvPicPr>
          <p:cNvPr id="143" name="Google Shape;143;p22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15900" y="1630900"/>
            <a:ext cx="5648325" cy="904875"/>
          </a:xfrm>
          <a:prstGeom prst="rect">
            <a:avLst/>
          </a:prstGeom>
          <a:noFill/>
          <a:ln>
            <a:noFill/>
          </a:ln>
        </p:spPr>
      </p:pic>
      <p:sp>
        <p:nvSpPr>
          <p:cNvPr id="144" name="Google Shape;144;p22"/>
          <p:cNvSpPr/>
          <p:nvPr/>
        </p:nvSpPr>
        <p:spPr>
          <a:xfrm flipH="1">
            <a:off x="6064225" y="1795750"/>
            <a:ext cx="1621500" cy="464700"/>
          </a:xfrm>
          <a:prstGeom prst="rightArrow">
            <a:avLst>
              <a:gd fmla="val 50000" name="adj1"/>
              <a:gd fmla="val 50000" name="adj2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/>
              <a:t>Data Scientist/Analyst</a:t>
            </a:r>
            <a:endParaRPr sz="1000"/>
          </a:p>
        </p:txBody>
      </p:sp>
      <p:pic>
        <p:nvPicPr>
          <p:cNvPr id="145" name="Google Shape;145;p22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4310340" y="2741525"/>
            <a:ext cx="3419475" cy="1447800"/>
          </a:xfrm>
          <a:prstGeom prst="rect">
            <a:avLst/>
          </a:prstGeom>
          <a:noFill/>
          <a:ln>
            <a:noFill/>
          </a:ln>
        </p:spPr>
      </p:pic>
      <p:sp>
        <p:nvSpPr>
          <p:cNvPr id="146" name="Google Shape;146;p22"/>
          <p:cNvSpPr/>
          <p:nvPr/>
        </p:nvSpPr>
        <p:spPr>
          <a:xfrm>
            <a:off x="2597665" y="3233075"/>
            <a:ext cx="1621500" cy="464700"/>
          </a:xfrm>
          <a:prstGeom prst="rightArrow">
            <a:avLst>
              <a:gd fmla="val 50000" name="adj1"/>
              <a:gd fmla="val 50000" name="adj2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/>
              <a:t>Financial Analyst</a:t>
            </a:r>
            <a:endParaRPr sz="1000"/>
          </a:p>
        </p:txBody>
      </p:sp>
      <p:pic>
        <p:nvPicPr>
          <p:cNvPr id="147" name="Google Shape;147;p22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2597675" y="4335991"/>
            <a:ext cx="3277301" cy="186859"/>
          </a:xfrm>
          <a:prstGeom prst="rect">
            <a:avLst/>
          </a:prstGeom>
          <a:noFill/>
          <a:ln>
            <a:noFill/>
          </a:ln>
        </p:spPr>
      </p:pic>
      <p:sp>
        <p:nvSpPr>
          <p:cNvPr id="148" name="Google Shape;148;p22"/>
          <p:cNvSpPr/>
          <p:nvPr/>
        </p:nvSpPr>
        <p:spPr>
          <a:xfrm flipH="1">
            <a:off x="5974275" y="4166675"/>
            <a:ext cx="1621500" cy="464700"/>
          </a:xfrm>
          <a:prstGeom prst="rightArrow">
            <a:avLst>
              <a:gd fmla="val 50000" name="adj1"/>
              <a:gd fmla="val 50000" name="adj2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/>
              <a:t>Mechanical Engineer</a:t>
            </a:r>
            <a:endParaRPr sz="1000"/>
          </a:p>
        </p:txBody>
      </p:sp>
      <p:sp>
        <p:nvSpPr>
          <p:cNvPr id="149" name="Google Shape;149;p22"/>
          <p:cNvSpPr txBox="1"/>
          <p:nvPr/>
        </p:nvSpPr>
        <p:spPr>
          <a:xfrm>
            <a:off x="162725" y="4727350"/>
            <a:ext cx="79260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/>
              <a:t>Try to have this section at the top. Current students can fill this under ‘Subjects’ section in Superset portal</a:t>
            </a:r>
            <a:endParaRPr sz="1200"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3" name="Shape 1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Google Shape;154;p23"/>
          <p:cNvSpPr txBox="1"/>
          <p:nvPr>
            <p:ph type="title"/>
          </p:nvPr>
        </p:nvSpPr>
        <p:spPr>
          <a:xfrm>
            <a:off x="520500" y="796500"/>
            <a:ext cx="8103000" cy="20265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3500"/>
              <a:t>Can you write about Coursera/Udemy courses in your resume?</a:t>
            </a:r>
            <a:endParaRPr sz="3500"/>
          </a:p>
        </p:txBody>
      </p:sp>
      <p:pic>
        <p:nvPicPr>
          <p:cNvPr id="155" name="Google Shape;155;p2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088799" y="0"/>
            <a:ext cx="1060695" cy="304800"/>
          </a:xfrm>
          <a:prstGeom prst="rect">
            <a:avLst/>
          </a:prstGeom>
          <a:noFill/>
          <a:ln>
            <a:noFill/>
          </a:ln>
        </p:spPr>
      </p:pic>
      <p:sp>
        <p:nvSpPr>
          <p:cNvPr id="156" name="Google Shape;156;p23"/>
          <p:cNvSpPr txBox="1"/>
          <p:nvPr/>
        </p:nvSpPr>
        <p:spPr>
          <a:xfrm>
            <a:off x="696900" y="2679175"/>
            <a:ext cx="7750200" cy="1487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>
                <a:solidFill>
                  <a:srgbClr val="93C47D"/>
                </a:solidFill>
                <a:latin typeface="Roboto Slab"/>
                <a:ea typeface="Roboto Slab"/>
                <a:cs typeface="Roboto Slab"/>
                <a:sym typeface="Roboto Slab"/>
              </a:rPr>
              <a:t>YES!</a:t>
            </a:r>
            <a:endParaRPr sz="2000">
              <a:solidFill>
                <a:srgbClr val="93C47D"/>
              </a:solidFill>
              <a:latin typeface="Roboto Slab"/>
              <a:ea typeface="Roboto Slab"/>
              <a:cs typeface="Roboto Slab"/>
              <a:sym typeface="Roboto Slab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60" name="Shape 1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" name="Google Shape;161;p24"/>
          <p:cNvSpPr txBox="1"/>
          <p:nvPr/>
        </p:nvSpPr>
        <p:spPr>
          <a:xfrm>
            <a:off x="0" y="0"/>
            <a:ext cx="9144000" cy="3048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Academics</a:t>
            </a:r>
            <a:endParaRPr>
              <a:solidFill>
                <a:srgbClr val="FFFFFF"/>
              </a:solidFill>
            </a:endParaRPr>
          </a:p>
        </p:txBody>
      </p:sp>
      <p:pic>
        <p:nvPicPr>
          <p:cNvPr id="162" name="Google Shape;162;p2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088799" y="0"/>
            <a:ext cx="1060695" cy="304800"/>
          </a:xfrm>
          <a:prstGeom prst="rect">
            <a:avLst/>
          </a:prstGeom>
          <a:noFill/>
          <a:ln>
            <a:noFill/>
          </a:ln>
        </p:spPr>
      </p:pic>
      <p:sp>
        <p:nvSpPr>
          <p:cNvPr id="163" name="Google Shape;163;p24"/>
          <p:cNvSpPr/>
          <p:nvPr/>
        </p:nvSpPr>
        <p:spPr>
          <a:xfrm>
            <a:off x="71825" y="454650"/>
            <a:ext cx="8886900" cy="672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/>
              <a:t>Current students will need to fill details on Xth, XIIth and College in the portal. Once you have work-ex you can skip writing about Xth and XIIth and possibly skip CGPA too e.g</a:t>
            </a:r>
            <a:endParaRPr sz="1200"/>
          </a:p>
        </p:txBody>
      </p:sp>
      <p:pic>
        <p:nvPicPr>
          <p:cNvPr id="164" name="Google Shape;164;p24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369525" y="1925475"/>
            <a:ext cx="6343650" cy="3524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65" name="Google Shape;165;p24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1736889" y="2277900"/>
            <a:ext cx="6013962" cy="352425"/>
          </a:xfrm>
          <a:prstGeom prst="rect">
            <a:avLst/>
          </a:prstGeom>
          <a:noFill/>
          <a:ln>
            <a:noFill/>
          </a:ln>
        </p:spPr>
      </p:pic>
      <p:sp>
        <p:nvSpPr>
          <p:cNvPr id="166" name="Google Shape;166;p24"/>
          <p:cNvSpPr/>
          <p:nvPr/>
        </p:nvSpPr>
        <p:spPr>
          <a:xfrm flipH="1">
            <a:off x="71825" y="2767500"/>
            <a:ext cx="2405400" cy="640500"/>
          </a:xfrm>
          <a:prstGeom prst="wedgeRectCallout">
            <a:avLst>
              <a:gd fmla="val -22015" name="adj1"/>
              <a:gd fmla="val -100094" name="adj2"/>
            </a:avLst>
          </a:prstGeom>
          <a:solidFill>
            <a:schemeClr val="accen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rgbClr val="FFFFFF"/>
                </a:solidFill>
              </a:rPr>
              <a:t>Mention relevant coursework</a:t>
            </a:r>
            <a:endParaRPr sz="1200">
              <a:solidFill>
                <a:srgbClr val="FFFFFF"/>
              </a:solidFill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rgbClr val="FFFFFF"/>
                </a:solidFill>
              </a:rPr>
              <a:t>(Under ‘Subjects’ section on Superset)</a:t>
            </a:r>
            <a:endParaRPr sz="1200">
              <a:solidFill>
                <a:srgbClr val="FFFFFF"/>
              </a:solidFill>
            </a:endParaRPr>
          </a:p>
        </p:txBody>
      </p:sp>
      <p:sp>
        <p:nvSpPr>
          <p:cNvPr id="167" name="Google Shape;167;p24"/>
          <p:cNvSpPr/>
          <p:nvPr/>
        </p:nvSpPr>
        <p:spPr>
          <a:xfrm flipH="1">
            <a:off x="1736900" y="4151475"/>
            <a:ext cx="2405400" cy="640500"/>
          </a:xfrm>
          <a:prstGeom prst="wedgeRectCallout">
            <a:avLst>
              <a:gd fmla="val -3650" name="adj1"/>
              <a:gd fmla="val -273731" name="adj2"/>
            </a:avLst>
          </a:prstGeom>
          <a:solidFill>
            <a:schemeClr val="accen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rgbClr val="FFFFFF"/>
                </a:solidFill>
              </a:rPr>
              <a:t>Feel free to mention relevant MOOCs you have completed with certification in the similar format</a:t>
            </a:r>
            <a:endParaRPr sz="1000">
              <a:solidFill>
                <a:srgbClr val="FFFFFF"/>
              </a:solidFill>
            </a:endParaRPr>
          </a:p>
        </p:txBody>
      </p:sp>
      <p:sp>
        <p:nvSpPr>
          <p:cNvPr id="168" name="Google Shape;168;p24"/>
          <p:cNvSpPr/>
          <p:nvPr/>
        </p:nvSpPr>
        <p:spPr>
          <a:xfrm flipH="1">
            <a:off x="4082475" y="3292675"/>
            <a:ext cx="2040300" cy="811800"/>
          </a:xfrm>
          <a:prstGeom prst="wedgeRectCallout">
            <a:avLst>
              <a:gd fmla="val 33508" name="adj1"/>
              <a:gd fmla="val -131608" name="adj2"/>
            </a:avLst>
          </a:prstGeom>
          <a:solidFill>
            <a:schemeClr val="accen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rgbClr val="FFFFFF"/>
                </a:solidFill>
              </a:rPr>
              <a:t>Write bullets on Merit Scholarships received, if any. Same for any awards on academic achievements like Gold medalist</a:t>
            </a:r>
            <a:endParaRPr sz="1000">
              <a:solidFill>
                <a:srgbClr val="FFFFFF"/>
              </a:solidFill>
            </a:endParaRPr>
          </a:p>
        </p:txBody>
      </p:sp>
      <p:sp>
        <p:nvSpPr>
          <p:cNvPr id="169" name="Google Shape;169;p24"/>
          <p:cNvSpPr/>
          <p:nvPr/>
        </p:nvSpPr>
        <p:spPr>
          <a:xfrm flipH="1">
            <a:off x="6514675" y="3134075"/>
            <a:ext cx="2040300" cy="811800"/>
          </a:xfrm>
          <a:prstGeom prst="wedgeRectCallout">
            <a:avLst>
              <a:gd fmla="val 33508" name="adj1"/>
              <a:gd fmla="val -131608" name="adj2"/>
            </a:avLst>
          </a:prstGeom>
          <a:solidFill>
            <a:schemeClr val="accen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rgbClr val="FFFFFF"/>
                </a:solidFill>
              </a:rPr>
              <a:t>Mention if you attended any relevant conferences and workshops</a:t>
            </a:r>
            <a:endParaRPr sz="1000">
              <a:solidFill>
                <a:srgbClr val="FFFFFF"/>
              </a:solidFill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73" name="Shape 1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" name="Google Shape;174;p25"/>
          <p:cNvSpPr txBox="1"/>
          <p:nvPr/>
        </p:nvSpPr>
        <p:spPr>
          <a:xfrm>
            <a:off x="0" y="0"/>
            <a:ext cx="9144000" cy="3048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Academic Projects</a:t>
            </a:r>
            <a:endParaRPr>
              <a:solidFill>
                <a:srgbClr val="FFFFFF"/>
              </a:solidFill>
            </a:endParaRPr>
          </a:p>
        </p:txBody>
      </p:sp>
      <p:pic>
        <p:nvPicPr>
          <p:cNvPr id="175" name="Google Shape;175;p25"/>
          <p:cNvPicPr preferRelativeResize="0"/>
          <p:nvPr/>
        </p:nvPicPr>
        <p:blipFill rotWithShape="1">
          <a:blip r:embed="rId3">
            <a:alphaModFix/>
          </a:blip>
          <a:srcRect b="27083" l="1427" r="792" t="14013"/>
          <a:stretch/>
        </p:blipFill>
        <p:spPr>
          <a:xfrm>
            <a:off x="278875" y="2150075"/>
            <a:ext cx="8642701" cy="1408675"/>
          </a:xfrm>
          <a:prstGeom prst="rect">
            <a:avLst/>
          </a:prstGeom>
          <a:noFill/>
          <a:ln>
            <a:noFill/>
          </a:ln>
        </p:spPr>
      </p:pic>
      <p:sp>
        <p:nvSpPr>
          <p:cNvPr id="176" name="Google Shape;176;p25"/>
          <p:cNvSpPr/>
          <p:nvPr/>
        </p:nvSpPr>
        <p:spPr>
          <a:xfrm>
            <a:off x="608000" y="1119975"/>
            <a:ext cx="3420300" cy="836400"/>
          </a:xfrm>
          <a:prstGeom prst="wedgeRectCallout">
            <a:avLst>
              <a:gd fmla="val -18538" name="adj1"/>
              <a:gd fmla="val 74743" name="adj2"/>
            </a:avLst>
          </a:prstGeom>
          <a:solidFill>
            <a:schemeClr val="accen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rgbClr val="FFFFFF"/>
                </a:solidFill>
              </a:rPr>
              <a:t>Write relevant Projects undertaken e.g. For a SDE role, </a:t>
            </a:r>
            <a:endParaRPr sz="1000">
              <a:solidFill>
                <a:srgbClr val="FFFFFF"/>
              </a:solidFill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rgbClr val="FFFFFF"/>
                </a:solidFill>
              </a:rPr>
              <a:t>OKAY -“Designed front-end of Oasis ‘20 website”</a:t>
            </a:r>
            <a:endParaRPr sz="1000">
              <a:solidFill>
                <a:srgbClr val="FFFFFF"/>
              </a:solidFill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rgbClr val="FFFFFF"/>
                </a:solidFill>
              </a:rPr>
              <a:t>NOT OKAY - “Built a central opening bridge model”</a:t>
            </a:r>
            <a:endParaRPr sz="1000">
              <a:solidFill>
                <a:srgbClr val="FFFFFF"/>
              </a:solidFill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rgbClr val="FFFFFF"/>
                </a:solidFill>
              </a:rPr>
              <a:t>Unless you need it as a filler</a:t>
            </a:r>
            <a:endParaRPr sz="1000">
              <a:solidFill>
                <a:srgbClr val="FFFFFF"/>
              </a:solidFill>
            </a:endParaRPr>
          </a:p>
        </p:txBody>
      </p:sp>
      <p:sp>
        <p:nvSpPr>
          <p:cNvPr id="177" name="Google Shape;177;p25"/>
          <p:cNvSpPr/>
          <p:nvPr/>
        </p:nvSpPr>
        <p:spPr>
          <a:xfrm>
            <a:off x="6687475" y="3877500"/>
            <a:ext cx="2234100" cy="640500"/>
          </a:xfrm>
          <a:prstGeom prst="wedgeRectCallout">
            <a:avLst>
              <a:gd fmla="val -31858" name="adj1"/>
              <a:gd fmla="val -105554" name="adj2"/>
            </a:avLst>
          </a:prstGeom>
          <a:solidFill>
            <a:schemeClr val="accen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rgbClr val="FFFFFF"/>
                </a:solidFill>
              </a:rPr>
              <a:t>QUANTIFY - Write impact in numbers - dollar values, #users, express efficiency in hours, %improvements, rankings, ratings</a:t>
            </a:r>
            <a:endParaRPr sz="1000">
              <a:solidFill>
                <a:srgbClr val="FFFFFF"/>
              </a:solidFill>
            </a:endParaRPr>
          </a:p>
        </p:txBody>
      </p:sp>
      <p:sp>
        <p:nvSpPr>
          <p:cNvPr id="178" name="Google Shape;178;p25"/>
          <p:cNvSpPr/>
          <p:nvPr/>
        </p:nvSpPr>
        <p:spPr>
          <a:xfrm>
            <a:off x="608000" y="3803350"/>
            <a:ext cx="1850100" cy="483300"/>
          </a:xfrm>
          <a:prstGeom prst="wedgeRectCallout">
            <a:avLst>
              <a:gd fmla="val 35178" name="adj1"/>
              <a:gd fmla="val -112684" name="adj2"/>
            </a:avLst>
          </a:prstGeom>
          <a:solidFill>
            <a:schemeClr val="accen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rgbClr val="FFFFFF"/>
                </a:solidFill>
              </a:rPr>
              <a:t>Bold the parts you want the recruiter to notice i.e, the keywords in the line</a:t>
            </a:r>
            <a:endParaRPr sz="1000">
              <a:solidFill>
                <a:srgbClr val="FFFFFF"/>
              </a:solidFill>
            </a:endParaRPr>
          </a:p>
        </p:txBody>
      </p:sp>
      <p:sp>
        <p:nvSpPr>
          <p:cNvPr id="179" name="Google Shape;179;p25"/>
          <p:cNvSpPr/>
          <p:nvPr/>
        </p:nvSpPr>
        <p:spPr>
          <a:xfrm>
            <a:off x="5024900" y="1253675"/>
            <a:ext cx="1503600" cy="408300"/>
          </a:xfrm>
          <a:prstGeom prst="wedgeRectCallout">
            <a:avLst>
              <a:gd fmla="val -25883" name="adj1"/>
              <a:gd fmla="val 172569" name="adj2"/>
            </a:avLst>
          </a:prstGeom>
          <a:solidFill>
            <a:schemeClr val="accen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rgbClr val="FFFFFF"/>
                </a:solidFill>
              </a:rPr>
              <a:t>Concise meaningful titles with domain</a:t>
            </a:r>
            <a:endParaRPr sz="1000">
              <a:solidFill>
                <a:srgbClr val="FFFFFF"/>
              </a:solidFill>
            </a:endParaRPr>
          </a:p>
        </p:txBody>
      </p:sp>
      <p:pic>
        <p:nvPicPr>
          <p:cNvPr id="180" name="Google Shape;180;p25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8088799" y="0"/>
            <a:ext cx="1060695" cy="304800"/>
          </a:xfrm>
          <a:prstGeom prst="rect">
            <a:avLst/>
          </a:prstGeom>
          <a:noFill/>
          <a:ln>
            <a:noFill/>
          </a:ln>
        </p:spPr>
      </p:pic>
      <p:sp>
        <p:nvSpPr>
          <p:cNvPr id="181" name="Google Shape;181;p25"/>
          <p:cNvSpPr/>
          <p:nvPr/>
        </p:nvSpPr>
        <p:spPr>
          <a:xfrm>
            <a:off x="7107075" y="1433375"/>
            <a:ext cx="1850100" cy="581700"/>
          </a:xfrm>
          <a:prstGeom prst="wedgeRectCallout">
            <a:avLst>
              <a:gd fmla="val -20833" name="adj1"/>
              <a:gd fmla="val 62500" name="adj2"/>
            </a:avLst>
          </a:prstGeom>
          <a:solidFill>
            <a:schemeClr val="accen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rgbClr val="FFFFFF"/>
                </a:solidFill>
              </a:rPr>
              <a:t>Write timeline against each project. Sort by relevance and then recency</a:t>
            </a:r>
            <a:endParaRPr sz="1000">
              <a:solidFill>
                <a:srgbClr val="FFFFFF"/>
              </a:solidFill>
            </a:endParaRPr>
          </a:p>
        </p:txBody>
      </p:sp>
      <p:sp>
        <p:nvSpPr>
          <p:cNvPr id="182" name="Google Shape;182;p25"/>
          <p:cNvSpPr/>
          <p:nvPr/>
        </p:nvSpPr>
        <p:spPr>
          <a:xfrm>
            <a:off x="2762200" y="3956100"/>
            <a:ext cx="1850100" cy="483300"/>
          </a:xfrm>
          <a:prstGeom prst="wedgeRectCallout">
            <a:avLst>
              <a:gd fmla="val 4408" name="adj1"/>
              <a:gd fmla="val -134771" name="adj2"/>
            </a:avLst>
          </a:prstGeom>
          <a:solidFill>
            <a:schemeClr val="accen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rgbClr val="FFFFFF"/>
                </a:solidFill>
              </a:rPr>
              <a:t>Try to mention skills, tools and techniques used. Bots shortlist resume by keywords</a:t>
            </a:r>
            <a:endParaRPr sz="1000">
              <a:solidFill>
                <a:srgbClr val="FFFFFF"/>
              </a:solidFill>
            </a:endParaRPr>
          </a:p>
        </p:txBody>
      </p:sp>
      <p:sp>
        <p:nvSpPr>
          <p:cNvPr id="183" name="Google Shape;183;p25"/>
          <p:cNvSpPr/>
          <p:nvPr/>
        </p:nvSpPr>
        <p:spPr>
          <a:xfrm>
            <a:off x="71825" y="378450"/>
            <a:ext cx="8886900" cy="672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/>
              <a:t>While writing about Academic projects, you need to follow almost similar guidelines as you do while writing about work ex</a:t>
            </a:r>
            <a:endParaRPr sz="1200"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7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8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7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8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7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7" name="Shape 1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8" name="Google Shape;188;p26"/>
          <p:cNvSpPr txBox="1"/>
          <p:nvPr>
            <p:ph type="title"/>
          </p:nvPr>
        </p:nvSpPr>
        <p:spPr>
          <a:xfrm>
            <a:off x="520500" y="1253700"/>
            <a:ext cx="8103000" cy="20265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3500"/>
              <a:t>Should you mention hobbies on our resume? JEE/GMAT score?</a:t>
            </a:r>
            <a:endParaRPr sz="3500"/>
          </a:p>
        </p:txBody>
      </p:sp>
      <p:pic>
        <p:nvPicPr>
          <p:cNvPr id="189" name="Google Shape;189;p2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088799" y="0"/>
            <a:ext cx="1060695" cy="304800"/>
          </a:xfrm>
          <a:prstGeom prst="rect">
            <a:avLst/>
          </a:prstGeom>
          <a:noFill/>
          <a:ln>
            <a:noFill/>
          </a:ln>
        </p:spPr>
      </p:pic>
      <p:sp>
        <p:nvSpPr>
          <p:cNvPr id="190" name="Google Shape;190;p26"/>
          <p:cNvSpPr txBox="1"/>
          <p:nvPr/>
        </p:nvSpPr>
        <p:spPr>
          <a:xfrm>
            <a:off x="696900" y="2679175"/>
            <a:ext cx="7750200" cy="1487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>
                <a:solidFill>
                  <a:srgbClr val="93C47D"/>
                </a:solidFill>
                <a:latin typeface="Roboto Slab"/>
                <a:ea typeface="Roboto Slab"/>
                <a:cs typeface="Roboto Slab"/>
                <a:sym typeface="Roboto Slab"/>
              </a:rPr>
              <a:t>It depends</a:t>
            </a:r>
            <a:r>
              <a:rPr lang="en" sz="2000">
                <a:solidFill>
                  <a:srgbClr val="93C47D"/>
                </a:solidFill>
                <a:latin typeface="Roboto Slab"/>
                <a:ea typeface="Roboto Slab"/>
                <a:cs typeface="Roboto Slab"/>
                <a:sym typeface="Roboto Slab"/>
              </a:rPr>
              <a:t>!</a:t>
            </a:r>
            <a:endParaRPr sz="2000">
              <a:solidFill>
                <a:srgbClr val="93C47D"/>
              </a:solidFill>
              <a:latin typeface="Roboto Slab"/>
              <a:ea typeface="Roboto Slab"/>
              <a:cs typeface="Roboto Slab"/>
              <a:sym typeface="Roboto Slab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8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9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94" name="Shape 1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5" name="Google Shape;195;p27"/>
          <p:cNvSpPr txBox="1"/>
          <p:nvPr/>
        </p:nvSpPr>
        <p:spPr>
          <a:xfrm>
            <a:off x="0" y="0"/>
            <a:ext cx="9144000" cy="3048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Extra Curriculars</a:t>
            </a:r>
            <a:endParaRPr>
              <a:solidFill>
                <a:srgbClr val="FFFFFF"/>
              </a:solidFill>
            </a:endParaRPr>
          </a:p>
        </p:txBody>
      </p:sp>
      <p:pic>
        <p:nvPicPr>
          <p:cNvPr id="196" name="Google Shape;196;p27"/>
          <p:cNvPicPr preferRelativeResize="0"/>
          <p:nvPr/>
        </p:nvPicPr>
        <p:blipFill rotWithShape="1">
          <a:blip r:embed="rId3">
            <a:alphaModFix/>
          </a:blip>
          <a:srcRect b="52037" l="3178" r="19096" t="34378"/>
          <a:stretch/>
        </p:blipFill>
        <p:spPr>
          <a:xfrm>
            <a:off x="907875" y="1646675"/>
            <a:ext cx="7106899" cy="698701"/>
          </a:xfrm>
          <a:prstGeom prst="rect">
            <a:avLst/>
          </a:prstGeom>
          <a:noFill/>
          <a:ln>
            <a:noFill/>
          </a:ln>
        </p:spPr>
      </p:pic>
      <p:sp>
        <p:nvSpPr>
          <p:cNvPr id="197" name="Google Shape;197;p27"/>
          <p:cNvSpPr txBox="1"/>
          <p:nvPr/>
        </p:nvSpPr>
        <p:spPr>
          <a:xfrm>
            <a:off x="297650" y="539475"/>
            <a:ext cx="78720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 u="sng">
                <a:solidFill>
                  <a:srgbClr val="D7471A"/>
                </a:solidFill>
                <a:latin typeface="Roboto"/>
                <a:ea typeface="Roboto"/>
                <a:cs typeface="Roboto"/>
                <a:sym typeface="Roboto"/>
              </a:rPr>
              <a:t>Position of Responsibility &amp; Volunteer Experience</a:t>
            </a:r>
            <a:r>
              <a:rPr lang="en" sz="1200">
                <a:solidFill>
                  <a:srgbClr val="666666"/>
                </a:solidFill>
                <a:latin typeface="Roboto"/>
                <a:ea typeface="Roboto"/>
                <a:cs typeface="Roboto"/>
                <a:sym typeface="Roboto"/>
              </a:rPr>
              <a:t> - Largely Similar to how you write work experience</a:t>
            </a:r>
            <a:endParaRPr sz="1000">
              <a:solidFill>
                <a:srgbClr val="666666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id="198" name="Google Shape;198;p27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8088799" y="0"/>
            <a:ext cx="1060695" cy="304800"/>
          </a:xfrm>
          <a:prstGeom prst="rect">
            <a:avLst/>
          </a:prstGeom>
          <a:noFill/>
          <a:ln>
            <a:noFill/>
          </a:ln>
        </p:spPr>
      </p:pic>
      <p:sp>
        <p:nvSpPr>
          <p:cNvPr id="199" name="Google Shape;199;p27"/>
          <p:cNvSpPr/>
          <p:nvPr/>
        </p:nvSpPr>
        <p:spPr>
          <a:xfrm>
            <a:off x="3455150" y="1157900"/>
            <a:ext cx="1407000" cy="572400"/>
          </a:xfrm>
          <a:prstGeom prst="wedgeRectCallout">
            <a:avLst>
              <a:gd fmla="val -20833" name="adj1"/>
              <a:gd fmla="val 62500" name="adj2"/>
            </a:avLst>
          </a:prstGeom>
          <a:solidFill>
            <a:srgbClr val="38761D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rgbClr val="FFFFFF"/>
                </a:solidFill>
              </a:rPr>
              <a:t>One liner about the organization (optional)</a:t>
            </a:r>
            <a:endParaRPr sz="1000">
              <a:solidFill>
                <a:srgbClr val="FFFFFF"/>
              </a:solidFill>
            </a:endParaRPr>
          </a:p>
        </p:txBody>
      </p:sp>
      <p:sp>
        <p:nvSpPr>
          <p:cNvPr id="200" name="Google Shape;200;p27"/>
          <p:cNvSpPr/>
          <p:nvPr/>
        </p:nvSpPr>
        <p:spPr>
          <a:xfrm>
            <a:off x="907875" y="1028450"/>
            <a:ext cx="2350500" cy="572400"/>
          </a:xfrm>
          <a:prstGeom prst="wedgeRectCallout">
            <a:avLst>
              <a:gd fmla="val -20833" name="adj1"/>
              <a:gd fmla="val 62500" name="adj2"/>
            </a:avLst>
          </a:prstGeom>
          <a:solidFill>
            <a:srgbClr val="38761D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rgbClr val="FFFFFF"/>
                </a:solidFill>
              </a:rPr>
              <a:t>Mention your role at organization briefly. Use action verbs - Spearheaded, converted, established</a:t>
            </a:r>
            <a:endParaRPr sz="1000">
              <a:solidFill>
                <a:srgbClr val="FFFFFF"/>
              </a:solidFill>
            </a:endParaRPr>
          </a:p>
        </p:txBody>
      </p:sp>
      <p:sp>
        <p:nvSpPr>
          <p:cNvPr id="201" name="Google Shape;201;p27"/>
          <p:cNvSpPr/>
          <p:nvPr/>
        </p:nvSpPr>
        <p:spPr>
          <a:xfrm>
            <a:off x="7949900" y="2345375"/>
            <a:ext cx="1141800" cy="863100"/>
          </a:xfrm>
          <a:prstGeom prst="wedgeRectCallout">
            <a:avLst>
              <a:gd fmla="val -95074" name="adj1"/>
              <a:gd fmla="val -64583" name="adj2"/>
            </a:avLst>
          </a:prstGeom>
          <a:solidFill>
            <a:srgbClr val="38761D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rgbClr val="FFFFFF"/>
                </a:solidFill>
              </a:rPr>
              <a:t>Avoid having too much whitespace, and don’t have way too much text either</a:t>
            </a:r>
            <a:endParaRPr sz="1000">
              <a:solidFill>
                <a:srgbClr val="FFFFFF"/>
              </a:solidFill>
            </a:endParaRPr>
          </a:p>
        </p:txBody>
      </p:sp>
      <p:sp>
        <p:nvSpPr>
          <p:cNvPr id="202" name="Google Shape;202;p27"/>
          <p:cNvSpPr/>
          <p:nvPr/>
        </p:nvSpPr>
        <p:spPr>
          <a:xfrm>
            <a:off x="5640000" y="1036650"/>
            <a:ext cx="1716300" cy="503400"/>
          </a:xfrm>
          <a:prstGeom prst="wedgeRectCallout">
            <a:avLst>
              <a:gd fmla="val 14348" name="adj1"/>
              <a:gd fmla="val 111328" name="adj2"/>
            </a:avLst>
          </a:prstGeom>
          <a:solidFill>
            <a:srgbClr val="38761D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rgbClr val="FFFFFF"/>
                </a:solidFill>
              </a:rPr>
              <a:t>You can</a:t>
            </a:r>
            <a:r>
              <a:rPr lang="en" sz="1000">
                <a:solidFill>
                  <a:srgbClr val="FFFFFF"/>
                </a:solidFill>
              </a:rPr>
              <a:t> bold the phrases where necessary</a:t>
            </a:r>
            <a:endParaRPr sz="1000">
              <a:solidFill>
                <a:srgbClr val="FFFFFF"/>
              </a:solidFill>
            </a:endParaRPr>
          </a:p>
        </p:txBody>
      </p:sp>
      <p:sp>
        <p:nvSpPr>
          <p:cNvPr id="203" name="Google Shape;203;p27"/>
          <p:cNvSpPr/>
          <p:nvPr/>
        </p:nvSpPr>
        <p:spPr>
          <a:xfrm>
            <a:off x="3872950" y="2452000"/>
            <a:ext cx="2699400" cy="503400"/>
          </a:xfrm>
          <a:prstGeom prst="wedgeRectCallout">
            <a:avLst>
              <a:gd fmla="val 21764" name="adj1"/>
              <a:gd fmla="val -70148" name="adj2"/>
            </a:avLst>
          </a:prstGeom>
          <a:solidFill>
            <a:srgbClr val="38761D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rgbClr val="FFFFFF"/>
                </a:solidFill>
              </a:rPr>
              <a:t>Quantify your work, outcome and impact generated as much possible</a:t>
            </a:r>
            <a:endParaRPr sz="1000">
              <a:solidFill>
                <a:srgbClr val="FFFFFF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rgbClr val="FFFFFF"/>
                </a:solidFill>
              </a:rPr>
              <a:t>Remember: PAR</a:t>
            </a:r>
            <a:endParaRPr sz="1000">
              <a:solidFill>
                <a:srgbClr val="FFFFFF"/>
              </a:solidFill>
            </a:endParaRPr>
          </a:p>
        </p:txBody>
      </p:sp>
      <p:sp>
        <p:nvSpPr>
          <p:cNvPr id="204" name="Google Shape;204;p27"/>
          <p:cNvSpPr/>
          <p:nvPr/>
        </p:nvSpPr>
        <p:spPr>
          <a:xfrm>
            <a:off x="7742300" y="626388"/>
            <a:ext cx="1255200" cy="698700"/>
          </a:xfrm>
          <a:prstGeom prst="wedgeRectCallout">
            <a:avLst>
              <a:gd fmla="val -55147" name="adj1"/>
              <a:gd fmla="val 102974" name="adj2"/>
            </a:avLst>
          </a:prstGeom>
          <a:solidFill>
            <a:srgbClr val="38761D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rgbClr val="FFFFFF"/>
                </a:solidFill>
              </a:rPr>
              <a:t>Timeline</a:t>
            </a:r>
            <a:endParaRPr sz="1000">
              <a:solidFill>
                <a:srgbClr val="FFFFFF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rgbClr val="FFFFFF"/>
                </a:solidFill>
              </a:rPr>
              <a:t>Arrangement - Chronological/</a:t>
            </a:r>
            <a:endParaRPr sz="1000">
              <a:solidFill>
                <a:srgbClr val="FFFFFF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rgbClr val="FFFFFF"/>
                </a:solidFill>
              </a:rPr>
              <a:t>Importance</a:t>
            </a:r>
            <a:endParaRPr sz="1000">
              <a:solidFill>
                <a:srgbClr val="FFFFFF"/>
              </a:solidFill>
            </a:endParaRPr>
          </a:p>
        </p:txBody>
      </p:sp>
      <p:sp>
        <p:nvSpPr>
          <p:cNvPr id="205" name="Google Shape;205;p27"/>
          <p:cNvSpPr txBox="1"/>
          <p:nvPr/>
        </p:nvSpPr>
        <p:spPr>
          <a:xfrm>
            <a:off x="384150" y="3098650"/>
            <a:ext cx="2682300" cy="274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 u="sng">
                <a:solidFill>
                  <a:srgbClr val="D7471A"/>
                </a:solidFill>
                <a:latin typeface="Roboto"/>
                <a:ea typeface="Roboto"/>
                <a:cs typeface="Roboto"/>
                <a:sym typeface="Roboto"/>
              </a:rPr>
              <a:t>External Scholarships and Grants</a:t>
            </a:r>
            <a:endParaRPr b="1" sz="1200" u="sng">
              <a:solidFill>
                <a:srgbClr val="D7471A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200">
              <a:solidFill>
                <a:srgbClr val="0B5394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>
              <a:solidFill>
                <a:srgbClr val="0B5394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>
              <a:solidFill>
                <a:srgbClr val="0B5394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>
              <a:solidFill>
                <a:srgbClr val="0B5394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id="206" name="Google Shape;206;p27"/>
          <p:cNvPicPr preferRelativeResize="0"/>
          <p:nvPr/>
        </p:nvPicPr>
        <p:blipFill rotWithShape="1">
          <a:blip r:embed="rId5">
            <a:alphaModFix/>
          </a:blip>
          <a:srcRect b="16964" l="18894" r="23164" t="74483"/>
          <a:stretch/>
        </p:blipFill>
        <p:spPr>
          <a:xfrm>
            <a:off x="1283475" y="4262550"/>
            <a:ext cx="7343424" cy="609676"/>
          </a:xfrm>
          <a:prstGeom prst="rect">
            <a:avLst/>
          </a:prstGeom>
          <a:noFill/>
          <a:ln>
            <a:noFill/>
          </a:ln>
        </p:spPr>
      </p:pic>
      <p:sp>
        <p:nvSpPr>
          <p:cNvPr id="207" name="Google Shape;207;p27"/>
          <p:cNvSpPr/>
          <p:nvPr/>
        </p:nvSpPr>
        <p:spPr>
          <a:xfrm>
            <a:off x="3052700" y="3677100"/>
            <a:ext cx="3123900" cy="379500"/>
          </a:xfrm>
          <a:prstGeom prst="wedgeRectCallout">
            <a:avLst>
              <a:gd fmla="val -44609" name="adj1"/>
              <a:gd fmla="val 90995" name="adj2"/>
            </a:avLst>
          </a:prstGeom>
          <a:solidFill>
            <a:srgbClr val="38761D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Write about the scholarships received by universities, government, organizations.</a:t>
            </a:r>
            <a:endParaRPr sz="1000">
              <a:solidFill>
                <a:srgbClr val="FFFFFF"/>
              </a:solidFill>
            </a:endParaRPr>
          </a:p>
        </p:txBody>
      </p:sp>
      <p:sp>
        <p:nvSpPr>
          <p:cNvPr id="208" name="Google Shape;208;p27"/>
          <p:cNvSpPr/>
          <p:nvPr/>
        </p:nvSpPr>
        <p:spPr>
          <a:xfrm>
            <a:off x="7094575" y="3828463"/>
            <a:ext cx="1621500" cy="379500"/>
          </a:xfrm>
          <a:prstGeom prst="wedgeRectCallout">
            <a:avLst>
              <a:gd fmla="val -31967" name="adj1"/>
              <a:gd fmla="val 86453" name="adj2"/>
            </a:avLst>
          </a:prstGeom>
          <a:solidFill>
            <a:srgbClr val="38761D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rgbClr val="FFFFFF"/>
                </a:solidFill>
              </a:rPr>
              <a:t>Mention the reason for securing the scholarship</a:t>
            </a:r>
            <a:endParaRPr sz="1000">
              <a:solidFill>
                <a:srgbClr val="FFFFFF"/>
              </a:solidFill>
            </a:endParaRPr>
          </a:p>
        </p:txBody>
      </p:sp>
      <p:sp>
        <p:nvSpPr>
          <p:cNvPr id="209" name="Google Shape;209;p27"/>
          <p:cNvSpPr/>
          <p:nvPr/>
        </p:nvSpPr>
        <p:spPr>
          <a:xfrm>
            <a:off x="435450" y="3576188"/>
            <a:ext cx="1621500" cy="483300"/>
          </a:xfrm>
          <a:prstGeom prst="wedgeRectCallout">
            <a:avLst>
              <a:gd fmla="val -1246" name="adj1"/>
              <a:gd fmla="val 129860" name="adj2"/>
            </a:avLst>
          </a:prstGeom>
          <a:solidFill>
            <a:srgbClr val="38761D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rgbClr val="FFFFFF"/>
                </a:solidFill>
              </a:rPr>
              <a:t>Mention the scale: # of people competing for the scholarship</a:t>
            </a:r>
            <a:endParaRPr sz="1000">
              <a:solidFill>
                <a:srgbClr val="FFFFFF"/>
              </a:solidFill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9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9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20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9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20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20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20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20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20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20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20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20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20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13" name="Shape 2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4" name="Google Shape;214;p28"/>
          <p:cNvSpPr txBox="1"/>
          <p:nvPr/>
        </p:nvSpPr>
        <p:spPr>
          <a:xfrm>
            <a:off x="0" y="0"/>
            <a:ext cx="9144000" cy="3048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Extra Curriculars</a:t>
            </a:r>
            <a:endParaRPr>
              <a:solidFill>
                <a:srgbClr val="FFFFFF"/>
              </a:solidFill>
            </a:endParaRPr>
          </a:p>
        </p:txBody>
      </p:sp>
      <p:sp>
        <p:nvSpPr>
          <p:cNvPr id="215" name="Google Shape;215;p28"/>
          <p:cNvSpPr txBox="1"/>
          <p:nvPr/>
        </p:nvSpPr>
        <p:spPr>
          <a:xfrm>
            <a:off x="307950" y="2507284"/>
            <a:ext cx="36234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 u="sng">
                <a:solidFill>
                  <a:srgbClr val="D7471A"/>
                </a:solidFill>
                <a:latin typeface="Roboto"/>
                <a:ea typeface="Roboto"/>
                <a:cs typeface="Roboto"/>
                <a:sym typeface="Roboto"/>
              </a:rPr>
              <a:t>Miscellaneous - Interests and Languages known</a:t>
            </a:r>
            <a:endParaRPr b="1" sz="1200" u="sng">
              <a:solidFill>
                <a:srgbClr val="D7471A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200">
              <a:solidFill>
                <a:srgbClr val="0B5394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>
              <a:solidFill>
                <a:srgbClr val="0B5394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i="1" sz="1000">
              <a:solidFill>
                <a:srgbClr val="0B5394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id="216" name="Google Shape;216;p28"/>
          <p:cNvPicPr preferRelativeResize="0"/>
          <p:nvPr/>
        </p:nvPicPr>
        <p:blipFill rotWithShape="1">
          <a:blip r:embed="rId3">
            <a:alphaModFix/>
          </a:blip>
          <a:srcRect b="15982" l="2813" r="23532" t="66069"/>
          <a:stretch/>
        </p:blipFill>
        <p:spPr>
          <a:xfrm>
            <a:off x="782975" y="3184351"/>
            <a:ext cx="7128427" cy="977138"/>
          </a:xfrm>
          <a:prstGeom prst="rect">
            <a:avLst/>
          </a:prstGeom>
          <a:noFill/>
          <a:ln>
            <a:noFill/>
          </a:ln>
        </p:spPr>
      </p:pic>
      <p:sp>
        <p:nvSpPr>
          <p:cNvPr id="217" name="Google Shape;217;p28"/>
          <p:cNvSpPr/>
          <p:nvPr/>
        </p:nvSpPr>
        <p:spPr>
          <a:xfrm>
            <a:off x="4094875" y="2633975"/>
            <a:ext cx="2786400" cy="483300"/>
          </a:xfrm>
          <a:prstGeom prst="wedgeRectCallout">
            <a:avLst>
              <a:gd fmla="val -64597" name="adj1"/>
              <a:gd fmla="val 88946" name="adj2"/>
            </a:avLst>
          </a:prstGeom>
          <a:solidFill>
            <a:srgbClr val="38761D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rgbClr val="FFFFFF"/>
                </a:solidFill>
              </a:rPr>
              <a:t>Mention accomplishment oriented activities</a:t>
            </a:r>
            <a:endParaRPr sz="1000">
              <a:solidFill>
                <a:srgbClr val="FFFFFF"/>
              </a:solidFill>
            </a:endParaRPr>
          </a:p>
        </p:txBody>
      </p:sp>
      <p:sp>
        <p:nvSpPr>
          <p:cNvPr id="218" name="Google Shape;218;p28"/>
          <p:cNvSpPr/>
          <p:nvPr/>
        </p:nvSpPr>
        <p:spPr>
          <a:xfrm>
            <a:off x="7568300" y="3184350"/>
            <a:ext cx="1432800" cy="753600"/>
          </a:xfrm>
          <a:prstGeom prst="wedgeRectCallout">
            <a:avLst>
              <a:gd fmla="val -60414" name="adj1"/>
              <a:gd fmla="val -11835" name="adj2"/>
            </a:avLst>
          </a:prstGeom>
          <a:solidFill>
            <a:srgbClr val="38761D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rgbClr val="FFFFFF"/>
                </a:solidFill>
              </a:rPr>
              <a:t>Quantify achievements; </a:t>
            </a:r>
            <a:endParaRPr sz="1000">
              <a:solidFill>
                <a:srgbClr val="FFFFFF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rgbClr val="FFFFFF"/>
                </a:solidFill>
              </a:rPr>
              <a:t>Show your growth; new initiatives you have brought forth</a:t>
            </a:r>
            <a:endParaRPr sz="1000">
              <a:solidFill>
                <a:srgbClr val="FFFFFF"/>
              </a:solidFill>
            </a:endParaRPr>
          </a:p>
        </p:txBody>
      </p:sp>
      <p:pic>
        <p:nvPicPr>
          <p:cNvPr id="219" name="Google Shape;219;p28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8088799" y="0"/>
            <a:ext cx="1060695" cy="304800"/>
          </a:xfrm>
          <a:prstGeom prst="rect">
            <a:avLst/>
          </a:prstGeom>
          <a:noFill/>
          <a:ln>
            <a:noFill/>
          </a:ln>
        </p:spPr>
      </p:pic>
      <p:sp>
        <p:nvSpPr>
          <p:cNvPr id="220" name="Google Shape;220;p28"/>
          <p:cNvSpPr/>
          <p:nvPr/>
        </p:nvSpPr>
        <p:spPr>
          <a:xfrm>
            <a:off x="5283450" y="1001325"/>
            <a:ext cx="2042700" cy="580800"/>
          </a:xfrm>
          <a:prstGeom prst="wedgeRectCallout">
            <a:avLst>
              <a:gd fmla="val -68059" name="adj1"/>
              <a:gd fmla="val -14721" name="adj2"/>
            </a:avLst>
          </a:prstGeom>
          <a:solidFill>
            <a:srgbClr val="38761D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>
                <a:solidFill>
                  <a:srgbClr val="FFFFFF"/>
                </a:solidFill>
              </a:rPr>
              <a:t>Mention rank/percentile and #number of applicants</a:t>
            </a:r>
            <a:endParaRPr sz="1000">
              <a:solidFill>
                <a:srgbClr val="FFFFFF"/>
              </a:solidFill>
            </a:endParaRPr>
          </a:p>
        </p:txBody>
      </p:sp>
      <p:sp>
        <p:nvSpPr>
          <p:cNvPr id="221" name="Google Shape;221;p28"/>
          <p:cNvSpPr/>
          <p:nvPr/>
        </p:nvSpPr>
        <p:spPr>
          <a:xfrm>
            <a:off x="2733375" y="1750850"/>
            <a:ext cx="2350500" cy="503400"/>
          </a:xfrm>
          <a:prstGeom prst="wedgeRectCallout">
            <a:avLst>
              <a:gd fmla="val -73028" name="adj1"/>
              <a:gd fmla="val -118037" name="adj2"/>
            </a:avLst>
          </a:prstGeom>
          <a:solidFill>
            <a:srgbClr val="38761D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rgbClr val="FFFFFF"/>
                </a:solidFill>
              </a:rPr>
              <a:t>Mention score where there’s no rank (ONLY WHERE THIS ADDS VALUE &amp; doesn’t lessen your chances)</a:t>
            </a:r>
            <a:endParaRPr sz="1000">
              <a:solidFill>
                <a:srgbClr val="FFFFFF"/>
              </a:solidFill>
            </a:endParaRPr>
          </a:p>
        </p:txBody>
      </p:sp>
      <p:sp>
        <p:nvSpPr>
          <p:cNvPr id="222" name="Google Shape;222;p28"/>
          <p:cNvSpPr txBox="1"/>
          <p:nvPr/>
        </p:nvSpPr>
        <p:spPr>
          <a:xfrm>
            <a:off x="307950" y="410650"/>
            <a:ext cx="10479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 u="sng">
                <a:solidFill>
                  <a:srgbClr val="D7471A"/>
                </a:solidFill>
                <a:latin typeface="Roboto"/>
                <a:ea typeface="Roboto"/>
                <a:cs typeface="Roboto"/>
                <a:sym typeface="Roboto"/>
              </a:rPr>
              <a:t>Test Scores</a:t>
            </a:r>
            <a:endParaRPr b="1" i="1" sz="1000" u="sng">
              <a:solidFill>
                <a:srgbClr val="D7471A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23" name="Google Shape;223;p28"/>
          <p:cNvSpPr/>
          <p:nvPr/>
        </p:nvSpPr>
        <p:spPr>
          <a:xfrm>
            <a:off x="5738300" y="4328025"/>
            <a:ext cx="2350500" cy="503400"/>
          </a:xfrm>
          <a:prstGeom prst="wedgeRectCallout">
            <a:avLst>
              <a:gd fmla="val -101877" name="adj1"/>
              <a:gd fmla="val -16130" name="adj2"/>
            </a:avLst>
          </a:prstGeom>
          <a:solidFill>
            <a:srgbClr val="38761D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rgbClr val="FFFFFF"/>
                </a:solidFill>
              </a:rPr>
              <a:t>Mention interests which highlight your unique personality e.g. Marathon runner, Columnist, Blogger etc</a:t>
            </a:r>
            <a:endParaRPr sz="1000">
              <a:solidFill>
                <a:srgbClr val="FFFFFF"/>
              </a:solidFill>
            </a:endParaRPr>
          </a:p>
        </p:txBody>
      </p:sp>
      <p:pic>
        <p:nvPicPr>
          <p:cNvPr id="224" name="Google Shape;224;p28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782975" y="4400025"/>
            <a:ext cx="3782600" cy="182050"/>
          </a:xfrm>
          <a:prstGeom prst="rect">
            <a:avLst/>
          </a:prstGeom>
          <a:noFill/>
          <a:ln>
            <a:noFill/>
          </a:ln>
        </p:spPr>
      </p:pic>
      <p:pic>
        <p:nvPicPr>
          <p:cNvPr id="225" name="Google Shape;225;p28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1425625" y="1077525"/>
            <a:ext cx="3267075" cy="3143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2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2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2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2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2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2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2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2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2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29" name="Shape 2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0" name="Google Shape;230;p29"/>
          <p:cNvSpPr txBox="1"/>
          <p:nvPr/>
        </p:nvSpPr>
        <p:spPr>
          <a:xfrm>
            <a:off x="0" y="0"/>
            <a:ext cx="9144000" cy="3048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DOs</a:t>
            </a:r>
            <a:endParaRPr>
              <a:solidFill>
                <a:srgbClr val="FFFFFF"/>
              </a:solidFill>
            </a:endParaRPr>
          </a:p>
        </p:txBody>
      </p:sp>
      <p:pic>
        <p:nvPicPr>
          <p:cNvPr id="231" name="Google Shape;231;p2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088799" y="0"/>
            <a:ext cx="1060695" cy="304800"/>
          </a:xfrm>
          <a:prstGeom prst="rect">
            <a:avLst/>
          </a:prstGeom>
          <a:noFill/>
          <a:ln>
            <a:noFill/>
          </a:ln>
        </p:spPr>
      </p:pic>
      <p:sp>
        <p:nvSpPr>
          <p:cNvPr id="232" name="Google Shape;232;p29"/>
          <p:cNvSpPr/>
          <p:nvPr/>
        </p:nvSpPr>
        <p:spPr>
          <a:xfrm>
            <a:off x="215225" y="395150"/>
            <a:ext cx="1798800" cy="1016100"/>
          </a:xfrm>
          <a:prstGeom prst="ellipse">
            <a:avLst/>
          </a:prstGeom>
          <a:noFill/>
          <a:ln cap="flat" cmpd="sng" w="19050">
            <a:solidFill>
              <a:srgbClr val="38761D"/>
            </a:solidFill>
            <a:prstDash val="dash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/>
              <a:t>Choose Appropriate fonts e.g. Arial or Calibri or Garamond </a:t>
            </a:r>
            <a:endParaRPr sz="1000"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/>
              <a:t>Size 12</a:t>
            </a:r>
            <a:endParaRPr sz="1000"/>
          </a:p>
        </p:txBody>
      </p:sp>
      <p:sp>
        <p:nvSpPr>
          <p:cNvPr id="233" name="Google Shape;233;p29"/>
          <p:cNvSpPr/>
          <p:nvPr/>
        </p:nvSpPr>
        <p:spPr>
          <a:xfrm>
            <a:off x="2577875" y="481538"/>
            <a:ext cx="1553400" cy="843300"/>
          </a:xfrm>
          <a:prstGeom prst="ellipse">
            <a:avLst/>
          </a:prstGeom>
          <a:noFill/>
          <a:ln cap="flat" cmpd="sng" w="19050">
            <a:solidFill>
              <a:srgbClr val="38761D"/>
            </a:solidFill>
            <a:prstDash val="dash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/>
              <a:t>Make sure your contact details are updated </a:t>
            </a:r>
            <a:endParaRPr sz="1000"/>
          </a:p>
        </p:txBody>
      </p:sp>
      <p:sp>
        <p:nvSpPr>
          <p:cNvPr id="234" name="Google Shape;234;p29"/>
          <p:cNvSpPr/>
          <p:nvPr/>
        </p:nvSpPr>
        <p:spPr>
          <a:xfrm>
            <a:off x="1021900" y="1571225"/>
            <a:ext cx="1798800" cy="1016100"/>
          </a:xfrm>
          <a:prstGeom prst="ellipse">
            <a:avLst/>
          </a:prstGeom>
          <a:noFill/>
          <a:ln cap="flat" cmpd="sng" w="19050">
            <a:solidFill>
              <a:srgbClr val="38761D"/>
            </a:solidFill>
            <a:prstDash val="dash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/>
              <a:t>Save and share resume in PDF format only</a:t>
            </a:r>
            <a:endParaRPr sz="1000"/>
          </a:p>
        </p:txBody>
      </p:sp>
      <p:sp>
        <p:nvSpPr>
          <p:cNvPr id="235" name="Google Shape;235;p29"/>
          <p:cNvSpPr/>
          <p:nvPr/>
        </p:nvSpPr>
        <p:spPr>
          <a:xfrm>
            <a:off x="4731425" y="395150"/>
            <a:ext cx="1798800" cy="1016100"/>
          </a:xfrm>
          <a:prstGeom prst="ellipse">
            <a:avLst/>
          </a:prstGeom>
          <a:noFill/>
          <a:ln cap="flat" cmpd="sng" w="19050">
            <a:solidFill>
              <a:srgbClr val="38761D"/>
            </a:solidFill>
            <a:prstDash val="dash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/>
              <a:t>Be consistent with periods at the end of sentences</a:t>
            </a:r>
            <a:endParaRPr sz="1000"/>
          </a:p>
        </p:txBody>
      </p:sp>
      <p:sp>
        <p:nvSpPr>
          <p:cNvPr id="236" name="Google Shape;236;p29"/>
          <p:cNvSpPr/>
          <p:nvPr/>
        </p:nvSpPr>
        <p:spPr>
          <a:xfrm>
            <a:off x="2455175" y="2878000"/>
            <a:ext cx="1798800" cy="1016100"/>
          </a:xfrm>
          <a:prstGeom prst="ellipse">
            <a:avLst/>
          </a:prstGeom>
          <a:noFill/>
          <a:ln cap="flat" cmpd="sng" w="19050">
            <a:solidFill>
              <a:srgbClr val="38761D"/>
            </a:solidFill>
            <a:prstDash val="dash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/>
              <a:t>Check for Grammatical and spelling mistakes</a:t>
            </a:r>
            <a:endParaRPr/>
          </a:p>
        </p:txBody>
      </p:sp>
      <p:sp>
        <p:nvSpPr>
          <p:cNvPr id="237" name="Google Shape;237;p29"/>
          <p:cNvSpPr/>
          <p:nvPr/>
        </p:nvSpPr>
        <p:spPr>
          <a:xfrm>
            <a:off x="3435350" y="1567163"/>
            <a:ext cx="1798800" cy="1016100"/>
          </a:xfrm>
          <a:prstGeom prst="ellipse">
            <a:avLst/>
          </a:prstGeom>
          <a:noFill/>
          <a:ln cap="flat" cmpd="sng" w="19050">
            <a:solidFill>
              <a:srgbClr val="38761D"/>
            </a:solidFill>
            <a:prstDash val="dash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/>
              <a:t>Use industry specific keywords. You will find them in Job Descriptions</a:t>
            </a:r>
            <a:endParaRPr sz="1000"/>
          </a:p>
        </p:txBody>
      </p:sp>
      <p:sp>
        <p:nvSpPr>
          <p:cNvPr id="238" name="Google Shape;238;p29"/>
          <p:cNvSpPr/>
          <p:nvPr/>
        </p:nvSpPr>
        <p:spPr>
          <a:xfrm>
            <a:off x="7130375" y="395150"/>
            <a:ext cx="1798800" cy="1016100"/>
          </a:xfrm>
          <a:prstGeom prst="ellipse">
            <a:avLst/>
          </a:prstGeom>
          <a:noFill/>
          <a:ln cap="flat" cmpd="sng" w="19050">
            <a:solidFill>
              <a:srgbClr val="38761D"/>
            </a:solidFill>
            <a:prstDash val="dash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/>
              <a:t>Add LinkedIn, GitHub and (relevant) personal blog links</a:t>
            </a:r>
            <a:endParaRPr sz="1000"/>
          </a:p>
        </p:txBody>
      </p:sp>
      <p:sp>
        <p:nvSpPr>
          <p:cNvPr id="239" name="Google Shape;239;p29"/>
          <p:cNvSpPr/>
          <p:nvPr/>
        </p:nvSpPr>
        <p:spPr>
          <a:xfrm>
            <a:off x="4816550" y="2878000"/>
            <a:ext cx="1798800" cy="1016100"/>
          </a:xfrm>
          <a:prstGeom prst="ellipse">
            <a:avLst/>
          </a:prstGeom>
          <a:noFill/>
          <a:ln cap="flat" cmpd="sng" w="19050">
            <a:solidFill>
              <a:srgbClr val="38761D"/>
            </a:solidFill>
            <a:prstDash val="dash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/>
              <a:t>‘Justify’ each line. All document editors have this option</a:t>
            </a:r>
            <a:endParaRPr sz="1000"/>
          </a:p>
        </p:txBody>
      </p:sp>
      <p:sp>
        <p:nvSpPr>
          <p:cNvPr id="240" name="Google Shape;240;p29"/>
          <p:cNvSpPr/>
          <p:nvPr/>
        </p:nvSpPr>
        <p:spPr>
          <a:xfrm>
            <a:off x="215225" y="2927125"/>
            <a:ext cx="1798800" cy="1016100"/>
          </a:xfrm>
          <a:prstGeom prst="ellipse">
            <a:avLst/>
          </a:prstGeom>
          <a:noFill/>
          <a:ln cap="flat" cmpd="sng" w="19050">
            <a:solidFill>
              <a:srgbClr val="38761D"/>
            </a:solidFill>
            <a:prstDash val="dash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/>
              <a:t>Get someone to proofread your resume. Repeat with 2 more people</a:t>
            </a:r>
            <a:endParaRPr/>
          </a:p>
        </p:txBody>
      </p:sp>
      <p:sp>
        <p:nvSpPr>
          <p:cNvPr id="241" name="Google Shape;241;p29"/>
          <p:cNvSpPr/>
          <p:nvPr/>
        </p:nvSpPr>
        <p:spPr>
          <a:xfrm>
            <a:off x="5804500" y="1567163"/>
            <a:ext cx="2509800" cy="1016100"/>
          </a:xfrm>
          <a:prstGeom prst="ellipse">
            <a:avLst/>
          </a:prstGeom>
          <a:noFill/>
          <a:ln cap="flat" cmpd="sng" w="19050">
            <a:solidFill>
              <a:srgbClr val="38761D"/>
            </a:solidFill>
            <a:prstDash val="dash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/>
              <a:t>Use a professional sounding PERSONAL email</a:t>
            </a:r>
            <a:endParaRPr sz="1000"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/>
              <a:t>e.g. strictly avoid</a:t>
            </a:r>
            <a:endParaRPr sz="1000"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/>
              <a:t>cooldude2000@gmail.com</a:t>
            </a:r>
            <a:endParaRPr sz="1000"/>
          </a:p>
        </p:txBody>
      </p:sp>
      <p:sp>
        <p:nvSpPr>
          <p:cNvPr id="242" name="Google Shape;242;p29"/>
          <p:cNvSpPr/>
          <p:nvPr/>
        </p:nvSpPr>
        <p:spPr>
          <a:xfrm>
            <a:off x="6374725" y="4190375"/>
            <a:ext cx="1553400" cy="843300"/>
          </a:xfrm>
          <a:prstGeom prst="ellipse">
            <a:avLst/>
          </a:prstGeom>
          <a:noFill/>
          <a:ln cap="flat" cmpd="sng" w="19050">
            <a:solidFill>
              <a:srgbClr val="38761D"/>
            </a:solidFill>
            <a:prstDash val="dash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/>
              <a:t>Save your resume PDF with a proper filename</a:t>
            </a:r>
            <a:endParaRPr sz="1000"/>
          </a:p>
        </p:txBody>
      </p:sp>
      <p:sp>
        <p:nvSpPr>
          <p:cNvPr id="243" name="Google Shape;243;p29"/>
          <p:cNvSpPr/>
          <p:nvPr/>
        </p:nvSpPr>
        <p:spPr>
          <a:xfrm>
            <a:off x="2014025" y="4150450"/>
            <a:ext cx="1553400" cy="843300"/>
          </a:xfrm>
          <a:prstGeom prst="ellipse">
            <a:avLst/>
          </a:prstGeom>
          <a:noFill/>
          <a:ln cap="flat" cmpd="sng" w="19050">
            <a:solidFill>
              <a:srgbClr val="38761D"/>
            </a:solidFill>
            <a:prstDash val="dash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/>
              <a:t>Store your resume in Cloud. Gmail will work fine</a:t>
            </a:r>
            <a:endParaRPr sz="1000"/>
          </a:p>
        </p:txBody>
      </p:sp>
      <p:sp>
        <p:nvSpPr>
          <p:cNvPr id="244" name="Google Shape;244;p29"/>
          <p:cNvSpPr/>
          <p:nvPr/>
        </p:nvSpPr>
        <p:spPr>
          <a:xfrm>
            <a:off x="4194375" y="4190375"/>
            <a:ext cx="1553400" cy="843300"/>
          </a:xfrm>
          <a:prstGeom prst="ellipse">
            <a:avLst/>
          </a:prstGeom>
          <a:noFill/>
          <a:ln cap="flat" cmpd="sng" w="19050">
            <a:solidFill>
              <a:srgbClr val="38761D"/>
            </a:solidFill>
            <a:prstDash val="dash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/>
              <a:t>Add relevant MOOCs </a:t>
            </a:r>
            <a:endParaRPr sz="1000"/>
          </a:p>
        </p:txBody>
      </p:sp>
      <p:sp>
        <p:nvSpPr>
          <p:cNvPr id="245" name="Google Shape;245;p29"/>
          <p:cNvSpPr/>
          <p:nvPr/>
        </p:nvSpPr>
        <p:spPr>
          <a:xfrm>
            <a:off x="7130375" y="2877988"/>
            <a:ext cx="1798800" cy="1016100"/>
          </a:xfrm>
          <a:prstGeom prst="ellipse">
            <a:avLst/>
          </a:prstGeom>
          <a:noFill/>
          <a:ln cap="flat" cmpd="sng" w="19050">
            <a:solidFill>
              <a:srgbClr val="38761D"/>
            </a:solidFill>
            <a:prstDash val="dash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/>
              <a:t>Emphasize Achievements, not responsibilities. Stress Leadership experience</a:t>
            </a:r>
            <a:endParaRPr sz="1000"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2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2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2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2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2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2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2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2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2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2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2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2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2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2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49" name="Shape 2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0" name="Google Shape;250;p30"/>
          <p:cNvSpPr txBox="1"/>
          <p:nvPr/>
        </p:nvSpPr>
        <p:spPr>
          <a:xfrm>
            <a:off x="0" y="0"/>
            <a:ext cx="9144000" cy="3048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DON’Ts</a:t>
            </a:r>
            <a:endParaRPr>
              <a:solidFill>
                <a:srgbClr val="FFFFFF"/>
              </a:solidFill>
            </a:endParaRPr>
          </a:p>
        </p:txBody>
      </p:sp>
      <p:pic>
        <p:nvPicPr>
          <p:cNvPr id="251" name="Google Shape;251;p3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088799" y="0"/>
            <a:ext cx="1060695" cy="304800"/>
          </a:xfrm>
          <a:prstGeom prst="rect">
            <a:avLst/>
          </a:prstGeom>
          <a:noFill/>
          <a:ln>
            <a:noFill/>
          </a:ln>
        </p:spPr>
      </p:pic>
      <p:sp>
        <p:nvSpPr>
          <p:cNvPr id="252" name="Google Shape;252;p30"/>
          <p:cNvSpPr/>
          <p:nvPr/>
        </p:nvSpPr>
        <p:spPr>
          <a:xfrm>
            <a:off x="370125" y="832475"/>
            <a:ext cx="1798800" cy="1016100"/>
          </a:xfrm>
          <a:prstGeom prst="ellipse">
            <a:avLst/>
          </a:prstGeom>
          <a:noFill/>
          <a:ln cap="flat" cmpd="sng" w="19050">
            <a:solidFill>
              <a:srgbClr val="980000"/>
            </a:solidFill>
            <a:prstDash val="dash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/>
              <a:t>Don’t Write “References Available Upon Request” </a:t>
            </a:r>
            <a:endParaRPr sz="1000"/>
          </a:p>
        </p:txBody>
      </p:sp>
      <p:sp>
        <p:nvSpPr>
          <p:cNvPr id="253" name="Google Shape;253;p30"/>
          <p:cNvSpPr/>
          <p:nvPr/>
        </p:nvSpPr>
        <p:spPr>
          <a:xfrm>
            <a:off x="801150" y="2310813"/>
            <a:ext cx="1798800" cy="1016100"/>
          </a:xfrm>
          <a:prstGeom prst="ellipse">
            <a:avLst/>
          </a:prstGeom>
          <a:noFill/>
          <a:ln cap="flat" cmpd="sng" w="19050">
            <a:solidFill>
              <a:srgbClr val="980000"/>
            </a:solidFill>
            <a:prstDash val="dash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/>
              <a:t>Don’t overuse Bold, Italics and Caps extensively</a:t>
            </a:r>
            <a:endParaRPr sz="1000"/>
          </a:p>
        </p:txBody>
      </p:sp>
      <p:sp>
        <p:nvSpPr>
          <p:cNvPr id="254" name="Google Shape;254;p30"/>
          <p:cNvSpPr/>
          <p:nvPr/>
        </p:nvSpPr>
        <p:spPr>
          <a:xfrm>
            <a:off x="3477300" y="823775"/>
            <a:ext cx="1798800" cy="1016100"/>
          </a:xfrm>
          <a:prstGeom prst="ellipse">
            <a:avLst/>
          </a:prstGeom>
          <a:noFill/>
          <a:ln cap="flat" cmpd="sng" w="19050">
            <a:solidFill>
              <a:srgbClr val="980000"/>
            </a:solidFill>
            <a:prstDash val="dash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/>
              <a:t>Don’t write declarations at the end of resume.</a:t>
            </a:r>
            <a:endParaRPr sz="1000"/>
          </a:p>
        </p:txBody>
      </p:sp>
      <p:sp>
        <p:nvSpPr>
          <p:cNvPr id="255" name="Google Shape;255;p30"/>
          <p:cNvSpPr/>
          <p:nvPr/>
        </p:nvSpPr>
        <p:spPr>
          <a:xfrm>
            <a:off x="7365600" y="3648075"/>
            <a:ext cx="1683900" cy="880800"/>
          </a:xfrm>
          <a:prstGeom prst="ellipse">
            <a:avLst/>
          </a:prstGeom>
          <a:noFill/>
          <a:ln cap="flat" cmpd="sng" w="19050">
            <a:solidFill>
              <a:srgbClr val="980000"/>
            </a:solidFill>
            <a:prstDash val="dash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/>
              <a:t>Don’t lie about anything!</a:t>
            </a:r>
            <a:endParaRPr sz="1000"/>
          </a:p>
        </p:txBody>
      </p:sp>
      <p:sp>
        <p:nvSpPr>
          <p:cNvPr id="256" name="Google Shape;256;p30"/>
          <p:cNvSpPr/>
          <p:nvPr/>
        </p:nvSpPr>
        <p:spPr>
          <a:xfrm>
            <a:off x="3147900" y="2358838"/>
            <a:ext cx="2457600" cy="1016100"/>
          </a:xfrm>
          <a:prstGeom prst="ellipse">
            <a:avLst/>
          </a:prstGeom>
          <a:noFill/>
          <a:ln cap="flat" cmpd="sng" w="19050">
            <a:solidFill>
              <a:srgbClr val="980000"/>
            </a:solidFill>
            <a:prstDash val="dash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/>
              <a:t>Avoid keeping an ‘Objective’ section unless you are looking for a specific role Instead write one liner on your work experience </a:t>
            </a:r>
            <a:endParaRPr/>
          </a:p>
        </p:txBody>
      </p:sp>
      <p:sp>
        <p:nvSpPr>
          <p:cNvPr id="257" name="Google Shape;257;p30"/>
          <p:cNvSpPr/>
          <p:nvPr/>
        </p:nvSpPr>
        <p:spPr>
          <a:xfrm>
            <a:off x="6990950" y="832475"/>
            <a:ext cx="1798800" cy="1016100"/>
          </a:xfrm>
          <a:prstGeom prst="ellipse">
            <a:avLst/>
          </a:prstGeom>
          <a:noFill/>
          <a:ln cap="flat" cmpd="sng" w="19050">
            <a:solidFill>
              <a:srgbClr val="980000"/>
            </a:solidFill>
            <a:prstDash val="dash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/>
              <a:t>Don’t write Marital status</a:t>
            </a:r>
            <a:endParaRPr sz="1000"/>
          </a:p>
        </p:txBody>
      </p:sp>
      <p:sp>
        <p:nvSpPr>
          <p:cNvPr id="258" name="Google Shape;258;p30"/>
          <p:cNvSpPr/>
          <p:nvPr/>
        </p:nvSpPr>
        <p:spPr>
          <a:xfrm>
            <a:off x="4889700" y="3580425"/>
            <a:ext cx="1798800" cy="1016100"/>
          </a:xfrm>
          <a:prstGeom prst="ellipse">
            <a:avLst/>
          </a:prstGeom>
          <a:noFill/>
          <a:ln cap="flat" cmpd="sng" w="19050">
            <a:solidFill>
              <a:srgbClr val="980000"/>
            </a:solidFill>
            <a:prstDash val="dash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/>
              <a:t>Don’t go beyond 0.5” for bottom and top margins and 0.75” for side margins </a:t>
            </a:r>
            <a:endParaRPr sz="1000"/>
          </a:p>
        </p:txBody>
      </p:sp>
      <p:sp>
        <p:nvSpPr>
          <p:cNvPr id="259" name="Google Shape;259;p30"/>
          <p:cNvSpPr/>
          <p:nvPr/>
        </p:nvSpPr>
        <p:spPr>
          <a:xfrm>
            <a:off x="2111463" y="3614600"/>
            <a:ext cx="1798800" cy="1016100"/>
          </a:xfrm>
          <a:prstGeom prst="ellipse">
            <a:avLst/>
          </a:prstGeom>
          <a:noFill/>
          <a:ln cap="flat" cmpd="sng" w="19050">
            <a:solidFill>
              <a:srgbClr val="980000"/>
            </a:solidFill>
            <a:prstDash val="dash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/>
              <a:t>Don’t add generic hobbies like reading or playing cricket</a:t>
            </a:r>
            <a:endParaRPr sz="1000"/>
          </a:p>
        </p:txBody>
      </p:sp>
      <p:sp>
        <p:nvSpPr>
          <p:cNvPr id="260" name="Google Shape;260;p30"/>
          <p:cNvSpPr/>
          <p:nvPr/>
        </p:nvSpPr>
        <p:spPr>
          <a:xfrm>
            <a:off x="6153450" y="2310825"/>
            <a:ext cx="1798800" cy="1016100"/>
          </a:xfrm>
          <a:prstGeom prst="ellipse">
            <a:avLst/>
          </a:prstGeom>
          <a:noFill/>
          <a:ln cap="flat" cmpd="sng" w="19050">
            <a:solidFill>
              <a:srgbClr val="980000"/>
            </a:solidFill>
            <a:prstDash val="dash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/>
              <a:t>Don’t have too many trailing whitespaces in lines</a:t>
            </a:r>
            <a:endParaRPr sz="1000"/>
          </a:p>
        </p:txBody>
      </p:sp>
      <p:sp>
        <p:nvSpPr>
          <p:cNvPr id="261" name="Google Shape;261;p30"/>
          <p:cNvSpPr/>
          <p:nvPr/>
        </p:nvSpPr>
        <p:spPr>
          <a:xfrm>
            <a:off x="155775" y="3682250"/>
            <a:ext cx="1683900" cy="880800"/>
          </a:xfrm>
          <a:prstGeom prst="ellipse">
            <a:avLst/>
          </a:prstGeom>
          <a:noFill/>
          <a:ln cap="flat" cmpd="sng" w="19050">
            <a:solidFill>
              <a:srgbClr val="980000"/>
            </a:solidFill>
            <a:prstDash val="dash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/>
              <a:t>Avoid colorful fonts in general</a:t>
            </a:r>
            <a:endParaRPr sz="1200"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2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2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2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2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2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2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2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2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2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2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5" name="Shape 2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" name="Google Shape;266;p31"/>
          <p:cNvSpPr txBox="1"/>
          <p:nvPr>
            <p:ph type="title"/>
          </p:nvPr>
        </p:nvSpPr>
        <p:spPr>
          <a:xfrm>
            <a:off x="247875" y="1112100"/>
            <a:ext cx="8589000" cy="28539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3500"/>
              <a:t>For interviews, your resume is the syllabus</a:t>
            </a:r>
            <a:endParaRPr sz="3500"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3500"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3500"/>
              <a:t>Memorize it like the back of your hand!</a:t>
            </a:r>
            <a:endParaRPr sz="3500"/>
          </a:p>
        </p:txBody>
      </p:sp>
      <p:pic>
        <p:nvPicPr>
          <p:cNvPr id="267" name="Google Shape;267;p3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088799" y="0"/>
            <a:ext cx="1060695" cy="3048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71" name="Shape 2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2" name="Google Shape;272;p32"/>
          <p:cNvSpPr txBox="1"/>
          <p:nvPr/>
        </p:nvSpPr>
        <p:spPr>
          <a:xfrm>
            <a:off x="0" y="0"/>
            <a:ext cx="9144000" cy="3048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Here are some awesome resumes of BITSians</a:t>
            </a:r>
            <a:r>
              <a:rPr lang="en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 for your reference</a:t>
            </a:r>
            <a:endParaRPr>
              <a:solidFill>
                <a:srgbClr val="FFFFFF"/>
              </a:solidFill>
            </a:endParaRPr>
          </a:p>
        </p:txBody>
      </p:sp>
      <p:pic>
        <p:nvPicPr>
          <p:cNvPr id="273" name="Google Shape;273;p3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088799" y="0"/>
            <a:ext cx="1060695" cy="304800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274" name="Google Shape;274;p32"/>
          <p:cNvGraphicFramePr/>
          <p:nvPr/>
        </p:nvGraphicFramePr>
        <p:xfrm>
          <a:off x="385663" y="40112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{60C5D40E-8CB1-4CBB-A516-25B302B9A850}</a:tableStyleId>
              </a:tblPr>
              <a:tblGrid>
                <a:gridCol w="1997375"/>
              </a:tblGrid>
              <a:tr h="1238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100">
                          <a:solidFill>
                            <a:srgbClr val="FFFFFF"/>
                          </a:solidFill>
                        </a:rPr>
                        <a:t>ANALYTICS</a:t>
                      </a:r>
                      <a:endParaRPr b="1" sz="1100">
                        <a:solidFill>
                          <a:srgbClr val="FFFFFF"/>
                        </a:solidFill>
                      </a:endParaRPr>
                    </a:p>
                  </a:txBody>
                  <a:tcPr marT="91425" marB="91425" marR="91425" marL="91425" anchor="ctr">
                    <a:solidFill>
                      <a:schemeClr val="dk2"/>
                    </a:solidFill>
                  </a:tcPr>
                </a:tc>
              </a:tr>
              <a:tr h="84925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 u="sng">
                          <a:solidFill>
                            <a:schemeClr val="hlink"/>
                          </a:solidFill>
                          <a:hlinkClick r:id="rId4"/>
                        </a:rPr>
                        <a:t>McKinsey BA</a:t>
                      </a:r>
                      <a:endParaRPr sz="1000"/>
                    </a:p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 u="sng">
                          <a:solidFill>
                            <a:schemeClr val="hlink"/>
                          </a:solidFill>
                          <a:hlinkClick r:id="rId5"/>
                        </a:rPr>
                        <a:t>McKinsey BA 2</a:t>
                      </a:r>
                      <a:endParaRPr sz="1000"/>
                    </a:p>
                  </a:txBody>
                  <a:tcPr marT="91425" marB="91425" marR="91425" marL="91425" anchor="ctr"/>
                </a:tc>
              </a:tr>
            </a:tbl>
          </a:graphicData>
        </a:graphic>
      </p:graphicFrame>
      <p:graphicFrame>
        <p:nvGraphicFramePr>
          <p:cNvPr id="275" name="Google Shape;275;p32"/>
          <p:cNvGraphicFramePr/>
          <p:nvPr/>
        </p:nvGraphicFramePr>
        <p:xfrm>
          <a:off x="385663" y="197882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{60C5D40E-8CB1-4CBB-A516-25B302B9A850}</a:tableStyleId>
              </a:tblPr>
              <a:tblGrid>
                <a:gridCol w="1997375"/>
              </a:tblGrid>
              <a:tr h="1238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100">
                          <a:solidFill>
                            <a:srgbClr val="FFFFFF"/>
                          </a:solidFill>
                        </a:rPr>
                        <a:t>FINANCE</a:t>
                      </a:r>
                      <a:endParaRPr b="1">
                        <a:solidFill>
                          <a:srgbClr val="FFFFFF"/>
                        </a:solidFill>
                      </a:endParaRPr>
                    </a:p>
                  </a:txBody>
                  <a:tcPr marT="91425" marB="91425" marR="91425" marL="91425" anchor="ctr">
                    <a:solidFill>
                      <a:schemeClr val="dk2"/>
                    </a:solidFill>
                  </a:tcPr>
                </a:tc>
              </a:tr>
              <a:tr h="84925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0"/>
                    </a:p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0"/>
                    </a:p>
                  </a:txBody>
                  <a:tcPr marT="91425" marB="91425" marR="91425" marL="91425" anchor="ctr"/>
                </a:tc>
              </a:tr>
            </a:tbl>
          </a:graphicData>
        </a:graphic>
      </p:graphicFrame>
      <p:graphicFrame>
        <p:nvGraphicFramePr>
          <p:cNvPr id="276" name="Google Shape;276;p32"/>
          <p:cNvGraphicFramePr/>
          <p:nvPr/>
        </p:nvGraphicFramePr>
        <p:xfrm>
          <a:off x="385663" y="355652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{60C5D40E-8CB1-4CBB-A516-25B302B9A850}</a:tableStyleId>
              </a:tblPr>
              <a:tblGrid>
                <a:gridCol w="1997375"/>
              </a:tblGrid>
              <a:tr h="1238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100">
                          <a:solidFill>
                            <a:srgbClr val="FFFFFF"/>
                          </a:solidFill>
                        </a:rPr>
                        <a:t>MBA/MS/PhD</a:t>
                      </a:r>
                      <a:endParaRPr b="1">
                        <a:solidFill>
                          <a:srgbClr val="FFFFFF"/>
                        </a:solidFill>
                      </a:endParaRPr>
                    </a:p>
                  </a:txBody>
                  <a:tcPr marT="91425" marB="91425" marR="91425" marL="91425" anchor="ctr">
                    <a:solidFill>
                      <a:schemeClr val="dk2"/>
                    </a:solidFill>
                  </a:tcPr>
                </a:tc>
              </a:tr>
              <a:tr h="84925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0"/>
                    </a:p>
                  </a:txBody>
                  <a:tcPr marT="91425" marB="91425" marR="91425" marL="91425" anchor="ctr"/>
                </a:tc>
              </a:tr>
            </a:tbl>
          </a:graphicData>
        </a:graphic>
      </p:graphicFrame>
      <p:graphicFrame>
        <p:nvGraphicFramePr>
          <p:cNvPr id="277" name="Google Shape;277;p32"/>
          <p:cNvGraphicFramePr/>
          <p:nvPr/>
        </p:nvGraphicFramePr>
        <p:xfrm>
          <a:off x="2510763" y="40112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{60C5D40E-8CB1-4CBB-A516-25B302B9A850}</a:tableStyleId>
              </a:tblPr>
              <a:tblGrid>
                <a:gridCol w="1997375"/>
              </a:tblGrid>
              <a:tr h="1238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100">
                          <a:solidFill>
                            <a:srgbClr val="FFFFFF"/>
                          </a:solidFill>
                        </a:rPr>
                        <a:t>CONSULTANCY</a:t>
                      </a:r>
                      <a:endParaRPr b="1">
                        <a:solidFill>
                          <a:srgbClr val="FFFFFF"/>
                        </a:solidFill>
                      </a:endParaRPr>
                    </a:p>
                  </a:txBody>
                  <a:tcPr marT="91425" marB="91425" marR="91425" marL="91425" anchor="ctr">
                    <a:solidFill>
                      <a:schemeClr val="dk2"/>
                    </a:solidFill>
                  </a:tcPr>
                </a:tc>
              </a:tr>
              <a:tr h="84925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0"/>
                    </a:p>
                  </a:txBody>
                  <a:tcPr marT="91425" marB="91425" marR="91425" marL="91425" anchor="ctr"/>
                </a:tc>
              </a:tr>
            </a:tbl>
          </a:graphicData>
        </a:graphic>
      </p:graphicFrame>
      <p:graphicFrame>
        <p:nvGraphicFramePr>
          <p:cNvPr id="278" name="Google Shape;278;p32"/>
          <p:cNvGraphicFramePr/>
          <p:nvPr/>
        </p:nvGraphicFramePr>
        <p:xfrm>
          <a:off x="2510763" y="197882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{60C5D40E-8CB1-4CBB-A516-25B302B9A850}</a:tableStyleId>
              </a:tblPr>
              <a:tblGrid>
                <a:gridCol w="1997375"/>
              </a:tblGrid>
              <a:tr h="1238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100">
                          <a:solidFill>
                            <a:srgbClr val="FFFFFF"/>
                          </a:solidFill>
                        </a:rPr>
                        <a:t>OPERATIONS</a:t>
                      </a:r>
                      <a:endParaRPr b="1">
                        <a:solidFill>
                          <a:srgbClr val="FFFFFF"/>
                        </a:solidFill>
                      </a:endParaRPr>
                    </a:p>
                  </a:txBody>
                  <a:tcPr marT="91425" marB="91425" marR="91425" marL="91425" anchor="ctr">
                    <a:solidFill>
                      <a:schemeClr val="dk2"/>
                    </a:solidFill>
                  </a:tcPr>
                </a:tc>
              </a:tr>
              <a:tr h="84925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0"/>
                    </a:p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0"/>
                    </a:p>
                  </a:txBody>
                  <a:tcPr marT="91425" marB="91425" marR="91425" marL="91425" anchor="ctr"/>
                </a:tc>
              </a:tr>
            </a:tbl>
          </a:graphicData>
        </a:graphic>
      </p:graphicFrame>
      <p:graphicFrame>
        <p:nvGraphicFramePr>
          <p:cNvPr id="279" name="Google Shape;279;p32"/>
          <p:cNvGraphicFramePr/>
          <p:nvPr/>
        </p:nvGraphicFramePr>
        <p:xfrm>
          <a:off x="2510763" y="355652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{60C5D40E-8CB1-4CBB-A516-25B302B9A850}</a:tableStyleId>
              </a:tblPr>
              <a:tblGrid>
                <a:gridCol w="1997375"/>
              </a:tblGrid>
              <a:tr h="1238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100">
                          <a:solidFill>
                            <a:srgbClr val="FFFFFF"/>
                          </a:solidFill>
                        </a:rPr>
                        <a:t>OTHERS</a:t>
                      </a:r>
                      <a:endParaRPr b="1">
                        <a:solidFill>
                          <a:srgbClr val="FFFFFF"/>
                        </a:solidFill>
                      </a:endParaRPr>
                    </a:p>
                  </a:txBody>
                  <a:tcPr marT="91425" marB="91425" marR="91425" marL="91425" anchor="ctr">
                    <a:solidFill>
                      <a:schemeClr val="dk2"/>
                    </a:solidFill>
                  </a:tcPr>
                </a:tc>
              </a:tr>
              <a:tr h="84925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 u="sng">
                          <a:solidFill>
                            <a:schemeClr val="hlink"/>
                          </a:solidFill>
                          <a:hlinkClick r:id="rId6"/>
                        </a:rPr>
                        <a:t>Non Tech</a:t>
                      </a:r>
                      <a:endParaRPr sz="1000"/>
                    </a:p>
                  </a:txBody>
                  <a:tcPr marT="91425" marB="91425" marR="91425" marL="91425" anchor="ctr"/>
                </a:tc>
              </a:tr>
            </a:tbl>
          </a:graphicData>
        </a:graphic>
      </p:graphicFrame>
      <p:graphicFrame>
        <p:nvGraphicFramePr>
          <p:cNvPr id="280" name="Google Shape;280;p32"/>
          <p:cNvGraphicFramePr/>
          <p:nvPr/>
        </p:nvGraphicFramePr>
        <p:xfrm>
          <a:off x="4635863" y="40112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{60C5D40E-8CB1-4CBB-A516-25B302B9A850}</a:tableStyleId>
              </a:tblPr>
              <a:tblGrid>
                <a:gridCol w="1997375"/>
              </a:tblGrid>
              <a:tr h="1238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100">
                          <a:solidFill>
                            <a:srgbClr val="FFFFFF"/>
                          </a:solidFill>
                        </a:rPr>
                        <a:t>SOFTWARE</a:t>
                      </a:r>
                      <a:endParaRPr b="1">
                        <a:solidFill>
                          <a:srgbClr val="FFFFFF"/>
                        </a:solidFill>
                      </a:endParaRPr>
                    </a:p>
                  </a:txBody>
                  <a:tcPr marT="91425" marB="91425" marR="91425" marL="91425" anchor="ctr">
                    <a:solidFill>
                      <a:schemeClr val="dk2"/>
                    </a:solidFill>
                  </a:tcPr>
                </a:tc>
              </a:tr>
              <a:tr h="84925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 u="sng">
                          <a:solidFill>
                            <a:schemeClr val="hlink"/>
                          </a:solidFill>
                          <a:hlinkClick r:id="rId7"/>
                        </a:rPr>
                        <a:t>SDE</a:t>
                      </a:r>
                      <a:endParaRPr sz="1000"/>
                    </a:p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 u="sng">
                          <a:solidFill>
                            <a:schemeClr val="hlink"/>
                          </a:solidFill>
                          <a:hlinkClick r:id="rId8"/>
                        </a:rPr>
                        <a:t>Google SDE</a:t>
                      </a:r>
                      <a:endParaRPr sz="1000"/>
                    </a:p>
                  </a:txBody>
                  <a:tcPr marT="91425" marB="91425" marR="91425" marL="91425" anchor="ctr"/>
                </a:tc>
              </a:tr>
            </a:tbl>
          </a:graphicData>
        </a:graphic>
      </p:graphicFrame>
      <p:graphicFrame>
        <p:nvGraphicFramePr>
          <p:cNvPr id="281" name="Google Shape;281;p32"/>
          <p:cNvGraphicFramePr/>
          <p:nvPr/>
        </p:nvGraphicFramePr>
        <p:xfrm>
          <a:off x="4635863" y="197882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{60C5D40E-8CB1-4CBB-A516-25B302B9A850}</a:tableStyleId>
              </a:tblPr>
              <a:tblGrid>
                <a:gridCol w="1997375"/>
              </a:tblGrid>
              <a:tr h="1238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100">
                          <a:solidFill>
                            <a:srgbClr val="FFFFFF"/>
                          </a:solidFill>
                        </a:rPr>
                        <a:t>MARKETING</a:t>
                      </a:r>
                      <a:endParaRPr b="1">
                        <a:solidFill>
                          <a:srgbClr val="FFFFFF"/>
                        </a:solidFill>
                      </a:endParaRPr>
                    </a:p>
                  </a:txBody>
                  <a:tcPr marT="91425" marB="91425" marR="91425" marL="91425" anchor="ctr">
                    <a:solidFill>
                      <a:schemeClr val="dk2"/>
                    </a:solidFill>
                  </a:tcPr>
                </a:tc>
              </a:tr>
              <a:tr h="84925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0"/>
                    </a:p>
                  </a:txBody>
                  <a:tcPr marT="91425" marB="91425" marR="91425" marL="91425" anchor="ctr"/>
                </a:tc>
              </a:tr>
            </a:tbl>
          </a:graphicData>
        </a:graphic>
      </p:graphicFrame>
      <p:graphicFrame>
        <p:nvGraphicFramePr>
          <p:cNvPr id="282" name="Google Shape;282;p32"/>
          <p:cNvGraphicFramePr/>
          <p:nvPr/>
        </p:nvGraphicFramePr>
        <p:xfrm>
          <a:off x="4635863" y="355652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{60C5D40E-8CB1-4CBB-A516-25B302B9A850}</a:tableStyleId>
              </a:tblPr>
              <a:tblGrid>
                <a:gridCol w="1997375"/>
              </a:tblGrid>
              <a:tr h="1238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100">
                          <a:solidFill>
                            <a:srgbClr val="FFFFFF"/>
                          </a:solidFill>
                        </a:rPr>
                        <a:t>PRODUCT MANAGER</a:t>
                      </a:r>
                      <a:endParaRPr b="1">
                        <a:solidFill>
                          <a:srgbClr val="FFFFFF"/>
                        </a:solidFill>
                      </a:endParaRPr>
                    </a:p>
                  </a:txBody>
                  <a:tcPr marT="91425" marB="91425" marR="91425" marL="91425" anchor="ctr">
                    <a:solidFill>
                      <a:schemeClr val="dk2"/>
                    </a:solidFill>
                  </a:tcPr>
                </a:tc>
              </a:tr>
              <a:tr h="84925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0"/>
                    </a:p>
                  </a:txBody>
                  <a:tcPr marT="91425" marB="91425" marR="91425" marL="91425" anchor="ctr"/>
                </a:tc>
              </a:tr>
            </a:tbl>
          </a:graphicData>
        </a:graphic>
      </p:graphicFrame>
      <p:graphicFrame>
        <p:nvGraphicFramePr>
          <p:cNvPr id="283" name="Google Shape;283;p32"/>
          <p:cNvGraphicFramePr/>
          <p:nvPr/>
        </p:nvGraphicFramePr>
        <p:xfrm>
          <a:off x="6760963" y="40112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{60C5D40E-8CB1-4CBB-A516-25B302B9A850}</a:tableStyleId>
              </a:tblPr>
              <a:tblGrid>
                <a:gridCol w="1997375"/>
              </a:tblGrid>
              <a:tr h="1238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100">
                          <a:solidFill>
                            <a:srgbClr val="FFFFFF"/>
                          </a:solidFill>
                        </a:rPr>
                        <a:t>CORE ENGG.</a:t>
                      </a:r>
                      <a:endParaRPr b="1">
                        <a:solidFill>
                          <a:srgbClr val="FFFFFF"/>
                        </a:solidFill>
                      </a:endParaRPr>
                    </a:p>
                  </a:txBody>
                  <a:tcPr marT="91425" marB="91425" marR="91425" marL="91425" anchor="ctr">
                    <a:solidFill>
                      <a:schemeClr val="dk2"/>
                    </a:solidFill>
                  </a:tcPr>
                </a:tc>
              </a:tr>
              <a:tr h="84925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 u="sng">
                          <a:solidFill>
                            <a:schemeClr val="hlink"/>
                          </a:solidFill>
                          <a:hlinkClick r:id="rId9"/>
                        </a:rPr>
                        <a:t>Chemical Core</a:t>
                      </a:r>
                      <a:endParaRPr sz="1000"/>
                    </a:p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 u="sng">
                          <a:solidFill>
                            <a:schemeClr val="hlink"/>
                          </a:solidFill>
                          <a:hlinkClick r:id="rId10"/>
                        </a:rPr>
                        <a:t>Electronics Core</a:t>
                      </a:r>
                      <a:endParaRPr sz="1000"/>
                    </a:p>
                  </a:txBody>
                  <a:tcPr marT="91425" marB="91425" marR="91425" marL="91425" anchor="ctr"/>
                </a:tc>
              </a:tr>
            </a:tbl>
          </a:graphicData>
        </a:graphic>
      </p:graphicFrame>
      <p:graphicFrame>
        <p:nvGraphicFramePr>
          <p:cNvPr id="284" name="Google Shape;284;p32"/>
          <p:cNvGraphicFramePr/>
          <p:nvPr/>
        </p:nvGraphicFramePr>
        <p:xfrm>
          <a:off x="6760963" y="197882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{60C5D40E-8CB1-4CBB-A516-25B302B9A850}</a:tableStyleId>
              </a:tblPr>
              <a:tblGrid>
                <a:gridCol w="1997375"/>
              </a:tblGrid>
              <a:tr h="1238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100">
                          <a:solidFill>
                            <a:srgbClr val="FFFFFF"/>
                          </a:solidFill>
                        </a:rPr>
                        <a:t>NGO</a:t>
                      </a:r>
                      <a:endParaRPr b="1">
                        <a:solidFill>
                          <a:srgbClr val="FFFFFF"/>
                        </a:solidFill>
                      </a:endParaRPr>
                    </a:p>
                  </a:txBody>
                  <a:tcPr marT="91425" marB="91425" marR="91425" marL="91425" anchor="ctr">
                    <a:solidFill>
                      <a:schemeClr val="dk2"/>
                    </a:solidFill>
                  </a:tcPr>
                </a:tc>
              </a:tr>
              <a:tr h="84925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0"/>
                    </a:p>
                  </a:txBody>
                  <a:tcPr marT="91425" marB="91425" marR="91425" marL="91425" anchor="ctr"/>
                </a:tc>
              </a:tr>
            </a:tbl>
          </a:graphicData>
        </a:graphic>
      </p:graphicFrame>
      <p:graphicFrame>
        <p:nvGraphicFramePr>
          <p:cNvPr id="285" name="Google Shape;285;p32"/>
          <p:cNvGraphicFramePr/>
          <p:nvPr/>
        </p:nvGraphicFramePr>
        <p:xfrm>
          <a:off x="6760963" y="355652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{60C5D40E-8CB1-4CBB-A516-25B302B9A850}</a:tableStyleId>
              </a:tblPr>
              <a:tblGrid>
                <a:gridCol w="1997375"/>
              </a:tblGrid>
              <a:tr h="1238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100">
                          <a:solidFill>
                            <a:srgbClr val="FFFFFF"/>
                          </a:solidFill>
                        </a:rPr>
                        <a:t>SALES</a:t>
                      </a:r>
                      <a:endParaRPr b="1">
                        <a:solidFill>
                          <a:srgbClr val="FFFFFF"/>
                        </a:solidFill>
                      </a:endParaRPr>
                    </a:p>
                  </a:txBody>
                  <a:tcPr marT="91425" marB="91425" marR="91425" marL="91425" anchor="ctr">
                    <a:solidFill>
                      <a:schemeClr val="dk2"/>
                    </a:solidFill>
                  </a:tcPr>
                </a:tc>
              </a:tr>
              <a:tr h="84925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0"/>
                    </a:p>
                  </a:txBody>
                  <a:tcPr marT="91425" marB="91425" marR="91425" marL="91425" anchor="ctr"/>
                </a:tc>
              </a:tr>
            </a:tbl>
          </a:graphicData>
        </a:graphic>
      </p:graphicFrame>
      <p:sp>
        <p:nvSpPr>
          <p:cNvPr id="286" name="Google Shape;286;p32"/>
          <p:cNvSpPr txBox="1"/>
          <p:nvPr/>
        </p:nvSpPr>
        <p:spPr>
          <a:xfrm>
            <a:off x="1970975" y="4760075"/>
            <a:ext cx="5396400" cy="383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950">
                <a:latin typeface="Roboto"/>
                <a:ea typeface="Roboto"/>
                <a:cs typeface="Roboto"/>
                <a:sym typeface="Roboto"/>
              </a:rPr>
              <a:t>We encourage BITSians who have been placed in good companies to </a:t>
            </a:r>
            <a:r>
              <a:rPr lang="en" sz="950" u="sng">
                <a:solidFill>
                  <a:schemeClr val="hlink"/>
                </a:solidFill>
                <a:latin typeface="Roboto"/>
                <a:ea typeface="Roboto"/>
                <a:cs typeface="Roboto"/>
                <a:sym typeface="Roboto"/>
                <a:hlinkClick r:id="rId11"/>
              </a:rPr>
              <a:t>EMAIL US YOUR RESUME</a:t>
            </a:r>
            <a:r>
              <a:rPr lang="en" sz="950">
                <a:latin typeface="Roboto"/>
                <a:ea typeface="Roboto"/>
                <a:cs typeface="Roboto"/>
                <a:sym typeface="Roboto"/>
              </a:rPr>
              <a:t> </a:t>
            </a:r>
            <a:endParaRPr sz="950"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950">
                <a:latin typeface="Roboto"/>
                <a:ea typeface="Roboto"/>
                <a:cs typeface="Roboto"/>
                <a:sym typeface="Roboto"/>
              </a:rPr>
              <a:t>to feature them on this page, so that your peers and juniors can benefit from them</a:t>
            </a:r>
            <a:endParaRPr sz="950"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90" name="Shape 2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1" name="Google Shape;291;p33"/>
          <p:cNvSpPr txBox="1"/>
          <p:nvPr>
            <p:ph type="ctrTitle"/>
          </p:nvPr>
        </p:nvSpPr>
        <p:spPr>
          <a:xfrm>
            <a:off x="1556500" y="823600"/>
            <a:ext cx="5783400" cy="9090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Thank You!</a:t>
            </a:r>
            <a:endParaRPr/>
          </a:p>
        </p:txBody>
      </p:sp>
      <p:sp>
        <p:nvSpPr>
          <p:cNvPr id="292" name="Google Shape;292;p33"/>
          <p:cNvSpPr txBox="1"/>
          <p:nvPr>
            <p:ph idx="1" type="subTitle"/>
          </p:nvPr>
        </p:nvSpPr>
        <p:spPr>
          <a:xfrm>
            <a:off x="1680302" y="1732600"/>
            <a:ext cx="5783400" cy="9090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900"/>
              <a:t>Created with </a:t>
            </a:r>
            <a:r>
              <a:rPr lang="en" sz="4000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❤️</a:t>
            </a:r>
            <a:r>
              <a:rPr lang="en" sz="2900"/>
              <a:t> by BITSians</a:t>
            </a:r>
            <a:endParaRPr sz="2900"/>
          </a:p>
        </p:txBody>
      </p:sp>
      <p:pic>
        <p:nvPicPr>
          <p:cNvPr id="293" name="Google Shape;293;p3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088799" y="0"/>
            <a:ext cx="1060695" cy="304800"/>
          </a:xfrm>
          <a:prstGeom prst="rect">
            <a:avLst/>
          </a:prstGeom>
          <a:noFill/>
          <a:ln>
            <a:noFill/>
          </a:ln>
        </p:spPr>
      </p:pic>
      <p:sp>
        <p:nvSpPr>
          <p:cNvPr id="294" name="Google Shape;294;p33"/>
          <p:cNvSpPr txBox="1"/>
          <p:nvPr/>
        </p:nvSpPr>
        <p:spPr>
          <a:xfrm>
            <a:off x="385200" y="4720825"/>
            <a:ext cx="8373600" cy="467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Email us with your suggestions</a:t>
            </a:r>
            <a:r>
              <a:rPr lang="en" sz="1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     </a:t>
            </a:r>
            <a:r>
              <a:rPr lang="en" sz="1000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||</a:t>
            </a:r>
            <a:r>
              <a:rPr lang="en" sz="1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     </a:t>
            </a:r>
            <a:r>
              <a:rPr lang="en" sz="1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BITSAA - </a:t>
            </a:r>
            <a:r>
              <a:rPr lang="en" sz="1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 </a:t>
            </a:r>
            <a:r>
              <a:rPr lang="en" sz="1000" u="sng">
                <a:solidFill>
                  <a:schemeClr val="accent5"/>
                </a:solidFill>
                <a:latin typeface="Roboto"/>
                <a:ea typeface="Roboto"/>
                <a:cs typeface="Roboto"/>
                <a:sym typeface="Roboto"/>
                <a:hlinkClick r:id="rId4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contact@bitsaa.org</a:t>
            </a:r>
            <a:r>
              <a:rPr lang="en" sz="1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     ||     AMP - </a:t>
            </a:r>
            <a:r>
              <a:rPr lang="en" sz="1000" u="sng">
                <a:solidFill>
                  <a:schemeClr val="accent5"/>
                </a:solidFill>
                <a:latin typeface="Roboto"/>
                <a:ea typeface="Roboto"/>
                <a:cs typeface="Roboto"/>
                <a:sym typeface="Roboto"/>
                <a:hlinkClick r:id="rId5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amp-team@bitsaa.org</a:t>
            </a:r>
            <a:r>
              <a:rPr lang="en" sz="1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     </a:t>
            </a:r>
            <a:endParaRPr sz="1000">
              <a:solidFill>
                <a:srgbClr val="FFFFFF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id="295" name="Google Shape;295;p33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1702825" y="3143500"/>
            <a:ext cx="482275" cy="482275"/>
          </a:xfrm>
          <a:prstGeom prst="rect">
            <a:avLst/>
          </a:prstGeom>
          <a:noFill/>
          <a:ln>
            <a:noFill/>
          </a:ln>
        </p:spPr>
      </p:pic>
      <p:pic>
        <p:nvPicPr>
          <p:cNvPr id="296" name="Google Shape;296;p33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1737400" y="3894213"/>
            <a:ext cx="413125" cy="413125"/>
          </a:xfrm>
          <a:prstGeom prst="rect">
            <a:avLst/>
          </a:prstGeom>
          <a:noFill/>
          <a:ln>
            <a:noFill/>
          </a:ln>
        </p:spPr>
      </p:pic>
      <p:pic>
        <p:nvPicPr>
          <p:cNvPr id="297" name="Google Shape;297;p33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5971850" y="3859635"/>
            <a:ext cx="482275" cy="482305"/>
          </a:xfrm>
          <a:prstGeom prst="rect">
            <a:avLst/>
          </a:prstGeom>
          <a:noFill/>
          <a:ln>
            <a:noFill/>
          </a:ln>
        </p:spPr>
      </p:pic>
      <p:pic>
        <p:nvPicPr>
          <p:cNvPr id="298" name="Google Shape;298;p33"/>
          <p:cNvPicPr preferRelativeResize="0"/>
          <p:nvPr/>
        </p:nvPicPr>
        <p:blipFill>
          <a:blip r:embed="rId9">
            <a:alphaModFix/>
          </a:blip>
          <a:stretch>
            <a:fillRect/>
          </a:stretch>
        </p:blipFill>
        <p:spPr>
          <a:xfrm>
            <a:off x="3545602" y="3088494"/>
            <a:ext cx="951874" cy="592302"/>
          </a:xfrm>
          <a:prstGeom prst="rect">
            <a:avLst/>
          </a:prstGeom>
          <a:noFill/>
          <a:ln>
            <a:noFill/>
          </a:ln>
        </p:spPr>
      </p:pic>
      <p:pic>
        <p:nvPicPr>
          <p:cNvPr id="299" name="Google Shape;299;p33"/>
          <p:cNvPicPr preferRelativeResize="0"/>
          <p:nvPr/>
        </p:nvPicPr>
        <p:blipFill rotWithShape="1">
          <a:blip r:embed="rId10">
            <a:alphaModFix/>
          </a:blip>
          <a:srcRect b="23289" l="0" r="0" t="0"/>
          <a:stretch/>
        </p:blipFill>
        <p:spPr>
          <a:xfrm>
            <a:off x="5971850" y="3150825"/>
            <a:ext cx="482275" cy="467623"/>
          </a:xfrm>
          <a:prstGeom prst="rect">
            <a:avLst/>
          </a:prstGeom>
          <a:noFill/>
          <a:ln>
            <a:noFill/>
          </a:ln>
        </p:spPr>
      </p:pic>
      <p:sp>
        <p:nvSpPr>
          <p:cNvPr id="300" name="Google Shape;300;p33"/>
          <p:cNvSpPr txBox="1"/>
          <p:nvPr>
            <p:ph type="ctrTitle"/>
          </p:nvPr>
        </p:nvSpPr>
        <p:spPr>
          <a:xfrm>
            <a:off x="6353325" y="3866925"/>
            <a:ext cx="1140000" cy="467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/>
              <a:t>@BITSAA</a:t>
            </a:r>
            <a:endParaRPr sz="1200"/>
          </a:p>
        </p:txBody>
      </p:sp>
      <p:sp>
        <p:nvSpPr>
          <p:cNvPr id="301" name="Google Shape;301;p33"/>
          <p:cNvSpPr txBox="1"/>
          <p:nvPr>
            <p:ph type="ctrTitle"/>
          </p:nvPr>
        </p:nvSpPr>
        <p:spPr>
          <a:xfrm>
            <a:off x="6229125" y="3150800"/>
            <a:ext cx="1388400" cy="467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/>
              <a:t>The BITSAA Podcast</a:t>
            </a:r>
            <a:endParaRPr sz="1200"/>
          </a:p>
        </p:txBody>
      </p:sp>
      <p:sp>
        <p:nvSpPr>
          <p:cNvPr id="302" name="Google Shape;302;p33"/>
          <p:cNvSpPr txBox="1"/>
          <p:nvPr>
            <p:ph type="ctrTitle"/>
          </p:nvPr>
        </p:nvSpPr>
        <p:spPr>
          <a:xfrm>
            <a:off x="2026850" y="3866925"/>
            <a:ext cx="1247700" cy="467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/>
              <a:t>@</a:t>
            </a:r>
            <a:r>
              <a:rPr lang="en" sz="1200"/>
              <a:t>bitsaaintl</a:t>
            </a:r>
            <a:endParaRPr sz="1200"/>
          </a:p>
        </p:txBody>
      </p:sp>
      <p:sp>
        <p:nvSpPr>
          <p:cNvPr id="303" name="Google Shape;303;p33"/>
          <p:cNvSpPr txBox="1"/>
          <p:nvPr>
            <p:ph type="ctrTitle"/>
          </p:nvPr>
        </p:nvSpPr>
        <p:spPr>
          <a:xfrm>
            <a:off x="1956500" y="3150800"/>
            <a:ext cx="1388400" cy="467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/>
              <a:t>@</a:t>
            </a:r>
            <a:r>
              <a:rPr lang="en" sz="1200"/>
              <a:t>bitsaa_intl</a:t>
            </a:r>
            <a:endParaRPr sz="1200"/>
          </a:p>
        </p:txBody>
      </p:sp>
      <p:sp>
        <p:nvSpPr>
          <p:cNvPr id="304" name="Google Shape;304;p33"/>
          <p:cNvSpPr txBox="1"/>
          <p:nvPr>
            <p:ph type="ctrTitle"/>
          </p:nvPr>
        </p:nvSpPr>
        <p:spPr>
          <a:xfrm>
            <a:off x="4362205" y="3178088"/>
            <a:ext cx="1247700" cy="413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/>
              <a:t>BITSAA </a:t>
            </a:r>
            <a:endParaRPr sz="1200"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/>
              <a:t>International</a:t>
            </a:r>
            <a:endParaRPr sz="1200"/>
          </a:p>
        </p:txBody>
      </p:sp>
      <p:sp>
        <p:nvSpPr>
          <p:cNvPr id="305" name="Google Shape;305;p33"/>
          <p:cNvSpPr txBox="1"/>
          <p:nvPr>
            <p:ph type="ctrTitle"/>
          </p:nvPr>
        </p:nvSpPr>
        <p:spPr>
          <a:xfrm>
            <a:off x="3602305" y="3894225"/>
            <a:ext cx="2007600" cy="413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 u="sng">
                <a:solidFill>
                  <a:schemeClr val="hlink"/>
                </a:solidFill>
                <a:hlinkClick r:id="rId11"/>
              </a:rPr>
              <a:t>CLICK TO JOIN US</a:t>
            </a:r>
            <a:endParaRPr sz="160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Marina">
  <a:themeElements>
    <a:clrScheme name="Marina">
      <a:dk1>
        <a:srgbClr val="FFFFFF"/>
      </a:dk1>
      <a:lt1>
        <a:srgbClr val="00517C"/>
      </a:lt1>
      <a:dk2>
        <a:srgbClr val="004065"/>
      </a:dk2>
      <a:lt2>
        <a:srgbClr val="CFD8DC"/>
      </a:lt2>
      <a:accent1>
        <a:srgbClr val="0277BD"/>
      </a:accent1>
      <a:accent2>
        <a:srgbClr val="558B2F"/>
      </a:accent2>
      <a:accent3>
        <a:srgbClr val="009688"/>
      </a:accent3>
      <a:accent4>
        <a:srgbClr val="039BE5"/>
      </a:accent4>
      <a:accent5>
        <a:srgbClr val="8BC34A"/>
      </a:accent5>
      <a:accent6>
        <a:srgbClr val="FFEB38"/>
      </a:accent6>
      <a:hlink>
        <a:srgbClr val="8BC34A"/>
      </a:hlink>
      <a:folHlink>
        <a:srgbClr val="8BC34A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